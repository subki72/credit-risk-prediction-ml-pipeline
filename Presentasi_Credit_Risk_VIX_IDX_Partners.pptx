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9" autoAdjust="0"/>
  </p:normalViewPr>
  <p:slideViewPr>
    <p:cSldViewPr snapToGrid="0" snapToObjects="1">
      <p:cViewPr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645920"/>
            <a:ext cx="4572000" cy="38100"/>
          </a:xfrm>
          <a:prstGeom prst="rect">
            <a:avLst/>
          </a:prstGeom>
          <a:solidFill>
            <a:srgbClr val="B7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600" b="1" i="0">
                <a:solidFill>
                  <a:srgbClr val="FFFFFF"/>
                </a:solidFill>
                <a:latin typeface="Georgia"/>
              </a:defRPr>
            </a:pPr>
            <a:r>
              <a:t>Prediksi Risiko Kredit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 i="0">
                <a:solidFill>
                  <a:srgbClr val="B79650"/>
                </a:solidFill>
                <a:latin typeface="Calibri"/>
              </a:defRPr>
            </a:pPr>
            <a:r>
              <a:t>Credit Risk Prediction — Proyek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 i="0">
                <a:solidFill>
                  <a:srgbClr val="DCC896"/>
                </a:solidFill>
                <a:latin typeface="Calibri"/>
              </a:defRPr>
            </a:pPr>
            <a:r>
              <a:t>VIX IDX Partners  ·  Data Scientist Virtual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 i="0">
                <a:solidFill>
                  <a:srgbClr val="DCC896"/>
                </a:solidFill>
                <a:latin typeface="Calibri"/>
              </a:defRPr>
            </a:pPr>
            <a:r>
              <a:t>Disusun oleh: Muhammad Syafii Assubki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486400"/>
            <a:ext cx="4572000" cy="38100"/>
          </a:xfrm>
          <a:prstGeom prst="rect">
            <a:avLst/>
          </a:prstGeom>
          <a:solidFill>
            <a:srgbClr val="B7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0F1E37"/>
                </a:solidFill>
                <a:latin typeface="Georgia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8100"/>
          </a:xfrm>
          <a:prstGeom prst="rect">
            <a:avLst/>
          </a:prstGeom>
          <a:solidFill>
            <a:srgbClr val="B7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19" y="1463040"/>
            <a:ext cx="6270413" cy="4826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A412D"/>
                </a:solidFill>
                <a:latin typeface="Calibri"/>
              </a:defRPr>
            </a:pPr>
            <a:r>
              <a:rPr dirty="0"/>
              <a:t>① </a:t>
            </a:r>
            <a:r>
              <a:rPr dirty="0" err="1"/>
              <a:t>Latar</a:t>
            </a:r>
            <a:r>
              <a:rPr dirty="0"/>
              <a:t> </a:t>
            </a:r>
            <a:r>
              <a:rPr dirty="0" err="1"/>
              <a:t>Belakang</a:t>
            </a:r>
            <a:r>
              <a:rPr dirty="0"/>
              <a:t> &amp; </a:t>
            </a:r>
            <a:r>
              <a:rPr dirty="0" err="1"/>
              <a:t>Mengapa</a:t>
            </a:r>
            <a:r>
              <a:rPr dirty="0"/>
              <a:t> </a:t>
            </a:r>
            <a:r>
              <a:rPr dirty="0" err="1"/>
              <a:t>Risiko</a:t>
            </a:r>
            <a:r>
              <a:rPr dirty="0"/>
              <a:t> </a:t>
            </a:r>
            <a:r>
              <a:rPr dirty="0" err="1"/>
              <a:t>Kredit</a:t>
            </a:r>
            <a:r>
              <a:rPr dirty="0"/>
              <a:t> </a:t>
            </a:r>
            <a:r>
              <a:rPr dirty="0" err="1"/>
              <a:t>Penting</a:t>
            </a: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5A412D"/>
                </a:solidFill>
                <a:latin typeface="Calibri"/>
              </a:defRPr>
            </a:pPr>
            <a:r>
              <a:rPr dirty="0"/>
              <a:t>② </a:t>
            </a:r>
            <a:r>
              <a:rPr dirty="0" err="1"/>
              <a:t>Tujuan</a:t>
            </a:r>
            <a:r>
              <a:rPr dirty="0"/>
              <a:t> </a:t>
            </a:r>
            <a:r>
              <a:rPr dirty="0" err="1"/>
              <a:t>Proyek</a:t>
            </a: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5A412D"/>
                </a:solidFill>
                <a:latin typeface="Calibri"/>
              </a:defRPr>
            </a:pPr>
            <a:r>
              <a:rPr dirty="0"/>
              <a:t>③ Gambaran Dataset</a:t>
            </a:r>
          </a:p>
          <a:p>
            <a:pPr>
              <a:spcAft>
                <a:spcPts val="1000"/>
              </a:spcAft>
              <a:defRPr sz="1800">
                <a:solidFill>
                  <a:srgbClr val="5A412D"/>
                </a:solidFill>
                <a:latin typeface="Calibri"/>
              </a:defRPr>
            </a:pPr>
            <a:r>
              <a:rPr dirty="0"/>
              <a:t>④ </a:t>
            </a:r>
            <a:r>
              <a:rPr dirty="0" err="1"/>
              <a:t>Temuan</a:t>
            </a:r>
            <a:r>
              <a:rPr dirty="0"/>
              <a:t> </a:t>
            </a:r>
            <a:r>
              <a:rPr dirty="0" err="1"/>
              <a:t>Eksplorasi</a:t>
            </a:r>
            <a:r>
              <a:rPr dirty="0"/>
              <a:t> Data (EDA)</a:t>
            </a:r>
          </a:p>
          <a:p>
            <a:pPr>
              <a:spcAft>
                <a:spcPts val="1000"/>
              </a:spcAft>
              <a:defRPr sz="1800">
                <a:solidFill>
                  <a:srgbClr val="5A412D"/>
                </a:solidFill>
                <a:latin typeface="Calibri"/>
              </a:defRPr>
            </a:pPr>
            <a:r>
              <a:rPr dirty="0"/>
              <a:t>⑤ </a:t>
            </a:r>
            <a:r>
              <a:rPr dirty="0" err="1"/>
              <a:t>Masalah</a:t>
            </a:r>
            <a:r>
              <a:rPr dirty="0"/>
              <a:t> </a:t>
            </a:r>
            <a:r>
              <a:rPr dirty="0" err="1"/>
              <a:t>Ketidakseimbangan</a:t>
            </a:r>
            <a:r>
              <a:rPr dirty="0"/>
              <a:t> Data &amp; Solusi</a:t>
            </a:r>
            <a:r>
              <a:rPr lang="en-US" dirty="0"/>
              <a:t> (SMOTE)</a:t>
            </a: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5A412D"/>
                </a:solidFill>
                <a:latin typeface="Calibri"/>
              </a:defRPr>
            </a:pPr>
            <a:r>
              <a:rPr dirty="0"/>
              <a:t>⑥ </a:t>
            </a:r>
            <a:r>
              <a:rPr dirty="0" err="1"/>
              <a:t>Pendekatan</a:t>
            </a:r>
            <a:r>
              <a:rPr dirty="0"/>
              <a:t> </a:t>
            </a:r>
            <a:r>
              <a:rPr dirty="0" err="1"/>
              <a:t>Pemodelan</a:t>
            </a: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5A412D"/>
                </a:solidFill>
                <a:latin typeface="Calibri"/>
              </a:defRPr>
            </a:pPr>
            <a:r>
              <a:rPr dirty="0"/>
              <a:t>⑦ </a:t>
            </a:r>
            <a:r>
              <a:rPr dirty="0" err="1"/>
              <a:t>Perbandingan</a:t>
            </a:r>
            <a:r>
              <a:rPr dirty="0"/>
              <a:t> Performa </a:t>
            </a:r>
            <a:r>
              <a:rPr dirty="0" err="1"/>
              <a:t>Semua</a:t>
            </a:r>
            <a:r>
              <a:rPr dirty="0"/>
              <a:t> Model</a:t>
            </a:r>
          </a:p>
          <a:p>
            <a:pPr>
              <a:spcAft>
                <a:spcPts val="1000"/>
              </a:spcAft>
              <a:defRPr sz="1800">
                <a:solidFill>
                  <a:srgbClr val="5A412D"/>
                </a:solidFill>
                <a:latin typeface="Calibri"/>
              </a:defRPr>
            </a:pPr>
            <a:r>
              <a:rPr dirty="0"/>
              <a:t>⑧ Model </a:t>
            </a:r>
            <a:r>
              <a:rPr dirty="0" err="1"/>
              <a:t>Terpilih</a:t>
            </a:r>
            <a:r>
              <a:rPr dirty="0"/>
              <a:t>: </a:t>
            </a:r>
            <a:r>
              <a:rPr dirty="0" err="1"/>
              <a:t>XGBoost</a:t>
            </a:r>
            <a:r>
              <a:rPr dirty="0"/>
              <a:t> Tuned</a:t>
            </a:r>
          </a:p>
          <a:p>
            <a:pPr>
              <a:spcAft>
                <a:spcPts val="1000"/>
              </a:spcAft>
              <a:defRPr sz="1800">
                <a:solidFill>
                  <a:srgbClr val="5A412D"/>
                </a:solidFill>
                <a:latin typeface="Calibri"/>
              </a:defRPr>
            </a:pPr>
            <a:r>
              <a:rPr dirty="0"/>
              <a:t>⑨ </a:t>
            </a:r>
            <a:r>
              <a:rPr dirty="0" err="1"/>
              <a:t>Optimasi</a:t>
            </a:r>
            <a:r>
              <a:rPr dirty="0"/>
              <a:t> Threshold (</a:t>
            </a:r>
            <a:r>
              <a:rPr dirty="0" err="1"/>
              <a:t>Titik</a:t>
            </a:r>
            <a:r>
              <a:rPr dirty="0"/>
              <a:t> Batas Keputusan)</a:t>
            </a:r>
          </a:p>
          <a:p>
            <a:pPr>
              <a:spcAft>
                <a:spcPts val="1000"/>
              </a:spcAft>
              <a:defRPr sz="1800">
                <a:solidFill>
                  <a:srgbClr val="5A412D"/>
                </a:solidFill>
                <a:latin typeface="Calibri"/>
              </a:defRPr>
            </a:pPr>
            <a:r>
              <a:rPr dirty="0"/>
              <a:t>⑩ </a:t>
            </a:r>
            <a:r>
              <a:rPr dirty="0" err="1"/>
              <a:t>Faktor-Faktor</a:t>
            </a:r>
            <a:r>
              <a:rPr dirty="0"/>
              <a:t> Paling </a:t>
            </a:r>
            <a:r>
              <a:rPr dirty="0" err="1"/>
              <a:t>Berpengaruh</a:t>
            </a: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5A412D"/>
                </a:solidFill>
                <a:latin typeface="Calibri"/>
              </a:defRPr>
            </a:pPr>
            <a:r>
              <a:rPr dirty="0"/>
              <a:t>⑪ Kesimpulan &amp; Insight </a:t>
            </a:r>
            <a:r>
              <a:rPr dirty="0" err="1"/>
              <a:t>Bisnis</a:t>
            </a: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5A412D"/>
                </a:solidFill>
                <a:latin typeface="Calibri"/>
              </a:defRPr>
            </a:pPr>
            <a:r>
              <a:rPr dirty="0"/>
              <a:t>⑫ </a:t>
            </a:r>
            <a:r>
              <a:rPr dirty="0" err="1"/>
              <a:t>Rekomendasi</a:t>
            </a:r>
            <a:r>
              <a:rPr dirty="0"/>
              <a:t> &amp; Langkah </a:t>
            </a:r>
            <a:r>
              <a:rPr dirty="0" err="1"/>
              <a:t>Selanjutnya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0F1E37"/>
                </a:solidFill>
                <a:latin typeface="Georgia"/>
              </a:defRPr>
            </a:pPr>
            <a:r>
              <a:t>Latar Belakang &amp;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8100"/>
          </a:xfrm>
          <a:prstGeom prst="rect">
            <a:avLst/>
          </a:prstGeom>
          <a:solidFill>
            <a:srgbClr val="B7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19" y="1463040"/>
            <a:ext cx="11223413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  <a:defRPr sz="1900">
                <a:solidFill>
                  <a:srgbClr val="5A412D"/>
                </a:solidFill>
                <a:latin typeface="Calibri"/>
              </a:defRPr>
            </a:pPr>
            <a:r>
              <a:rPr dirty="0" err="1"/>
              <a:t>Risiko</a:t>
            </a:r>
            <a:r>
              <a:rPr dirty="0"/>
              <a:t> </a:t>
            </a:r>
            <a:r>
              <a:rPr dirty="0" err="1"/>
              <a:t>kredit</a:t>
            </a:r>
            <a:r>
              <a:rPr dirty="0"/>
              <a:t> = </a:t>
            </a:r>
            <a:r>
              <a:rPr dirty="0" err="1"/>
              <a:t>potensi</a:t>
            </a:r>
            <a:r>
              <a:rPr dirty="0"/>
              <a:t> </a:t>
            </a:r>
            <a:r>
              <a:rPr dirty="0" err="1"/>
              <a:t>kerugian</a:t>
            </a:r>
            <a:r>
              <a:rPr dirty="0"/>
              <a:t> </a:t>
            </a:r>
            <a:r>
              <a:rPr dirty="0" err="1"/>
              <a:t>saat</a:t>
            </a:r>
            <a:r>
              <a:rPr dirty="0"/>
              <a:t> </a:t>
            </a:r>
            <a:r>
              <a:rPr dirty="0" err="1"/>
              <a:t>nasabah</a:t>
            </a:r>
            <a:r>
              <a:rPr dirty="0"/>
              <a:t> </a:t>
            </a:r>
            <a:r>
              <a:rPr dirty="0" err="1"/>
              <a:t>gagal</a:t>
            </a:r>
            <a:r>
              <a:rPr dirty="0"/>
              <a:t> </a:t>
            </a:r>
            <a:r>
              <a:rPr dirty="0" err="1"/>
              <a:t>membayar</a:t>
            </a:r>
            <a:r>
              <a:rPr dirty="0"/>
              <a:t> </a:t>
            </a:r>
            <a:r>
              <a:rPr dirty="0" err="1"/>
              <a:t>pinjaman</a:t>
            </a:r>
            <a:r>
              <a:rPr dirty="0"/>
              <a:t>.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  <a:defRPr sz="1900">
                <a:solidFill>
                  <a:srgbClr val="5A412D"/>
                </a:solidFill>
                <a:latin typeface="Calibri"/>
              </a:defRPr>
            </a:pPr>
            <a:r>
              <a:rPr dirty="0" err="1"/>
              <a:t>Identifikasi</a:t>
            </a:r>
            <a:r>
              <a:rPr dirty="0"/>
              <a:t> </a:t>
            </a:r>
            <a:r>
              <a:rPr dirty="0" err="1"/>
              <a:t>dini</a:t>
            </a:r>
            <a:r>
              <a:rPr dirty="0"/>
              <a:t> </a:t>
            </a:r>
            <a:r>
              <a:rPr dirty="0" err="1"/>
              <a:t>nasabah</a:t>
            </a:r>
            <a:r>
              <a:rPr dirty="0"/>
              <a:t> </a:t>
            </a:r>
            <a:r>
              <a:rPr dirty="0" err="1"/>
              <a:t>berisiko</a:t>
            </a:r>
            <a:r>
              <a:rPr dirty="0"/>
              <a:t> </a:t>
            </a:r>
            <a:r>
              <a:rPr dirty="0" err="1"/>
              <a:t>dapat</a:t>
            </a:r>
            <a:r>
              <a:rPr dirty="0"/>
              <a:t> </a:t>
            </a:r>
            <a:r>
              <a:rPr dirty="0" err="1"/>
              <a:t>menyelamatkan</a:t>
            </a:r>
            <a:r>
              <a:rPr dirty="0"/>
              <a:t> </a:t>
            </a:r>
            <a:r>
              <a:rPr dirty="0" err="1"/>
              <a:t>perusahaan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kerugian</a:t>
            </a:r>
            <a:r>
              <a:rPr dirty="0"/>
              <a:t> </a:t>
            </a:r>
            <a:r>
              <a:rPr dirty="0" err="1"/>
              <a:t>finansial</a:t>
            </a:r>
            <a:r>
              <a:rPr dirty="0"/>
              <a:t> yang </a:t>
            </a:r>
            <a:r>
              <a:rPr dirty="0" err="1"/>
              <a:t>signifikan</a:t>
            </a:r>
            <a:r>
              <a:rPr dirty="0"/>
              <a:t>.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  <a:defRPr sz="1900">
                <a:solidFill>
                  <a:srgbClr val="5A412D"/>
                </a:solidFill>
                <a:latin typeface="Calibri"/>
              </a:defRPr>
            </a:pPr>
            <a:r>
              <a:rPr dirty="0"/>
              <a:t>Proses manual </a:t>
            </a:r>
            <a:r>
              <a:rPr dirty="0" err="1"/>
              <a:t>memakan</a:t>
            </a:r>
            <a:r>
              <a:rPr dirty="0"/>
              <a:t> </a:t>
            </a:r>
            <a:r>
              <a:rPr dirty="0" err="1"/>
              <a:t>waktu</a:t>
            </a:r>
            <a:r>
              <a:rPr dirty="0"/>
              <a:t>, </a:t>
            </a:r>
            <a:r>
              <a:rPr dirty="0" err="1"/>
              <a:t>rentan</a:t>
            </a:r>
            <a:r>
              <a:rPr dirty="0"/>
              <a:t> bias </a:t>
            </a:r>
            <a:r>
              <a:rPr dirty="0" err="1"/>
              <a:t>manusia</a:t>
            </a:r>
            <a:r>
              <a:rPr dirty="0"/>
              <a:t>, dan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konsisten</a:t>
            </a:r>
            <a:r>
              <a:rPr dirty="0"/>
              <a:t>.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  <a:defRPr sz="1900">
                <a:solidFill>
                  <a:srgbClr val="5A412D"/>
                </a:solidFill>
                <a:latin typeface="Calibri"/>
              </a:defRPr>
            </a:pPr>
            <a:r>
              <a:rPr dirty="0"/>
              <a:t>Solusi: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prediktif</a:t>
            </a:r>
            <a:r>
              <a:rPr dirty="0"/>
              <a:t> </a:t>
            </a:r>
            <a:r>
              <a:rPr dirty="0" err="1"/>
              <a:t>berbasis</a:t>
            </a:r>
            <a:r>
              <a:rPr dirty="0"/>
              <a:t> data </a:t>
            </a:r>
            <a:r>
              <a:rPr dirty="0" err="1"/>
              <a:t>historis</a:t>
            </a:r>
            <a:r>
              <a:rPr dirty="0"/>
              <a:t> yang </a:t>
            </a:r>
            <a:r>
              <a:rPr dirty="0" err="1"/>
              <a:t>obyektif</a:t>
            </a:r>
            <a:r>
              <a:rPr dirty="0"/>
              <a:t> dan </a:t>
            </a:r>
            <a:r>
              <a:rPr dirty="0" err="1"/>
              <a:t>cepat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0F1E37"/>
                </a:solidFill>
                <a:latin typeface="Georgia"/>
              </a:defRPr>
            </a:pPr>
            <a:r>
              <a:t>Tujuan Proyek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8100"/>
          </a:xfrm>
          <a:prstGeom prst="rect">
            <a:avLst/>
          </a:prstGeom>
          <a:solidFill>
            <a:srgbClr val="B7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19" y="1463040"/>
            <a:ext cx="10131213" cy="182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2200"/>
              </a:spcAft>
              <a:buFont typeface="Arial" panose="020B0604020202020204" pitchFamily="34" charset="0"/>
              <a:buChar char="•"/>
              <a:defRPr sz="1900">
                <a:solidFill>
                  <a:srgbClr val="5A412D"/>
                </a:solidFill>
                <a:latin typeface="Calibri"/>
              </a:defRPr>
            </a:pPr>
            <a:r>
              <a:rPr dirty="0" err="1"/>
              <a:t>Membangun</a:t>
            </a:r>
            <a:r>
              <a:rPr dirty="0"/>
              <a:t> model </a:t>
            </a:r>
            <a:r>
              <a:rPr dirty="0" err="1"/>
              <a:t>prediktif</a:t>
            </a:r>
            <a:r>
              <a:rPr dirty="0"/>
              <a:t>: </a:t>
            </a:r>
            <a:r>
              <a:rPr dirty="0" err="1"/>
              <a:t>menentukan</a:t>
            </a:r>
            <a:r>
              <a:rPr dirty="0"/>
              <a:t> </a:t>
            </a:r>
            <a:r>
              <a:rPr dirty="0" err="1"/>
              <a:t>probabilitas</a:t>
            </a:r>
            <a:r>
              <a:rPr dirty="0"/>
              <a:t> </a:t>
            </a:r>
            <a:r>
              <a:rPr dirty="0" err="1"/>
              <a:t>nasabah</a:t>
            </a:r>
            <a:r>
              <a:rPr dirty="0"/>
              <a:t> </a:t>
            </a:r>
            <a:r>
              <a:rPr dirty="0" err="1"/>
              <a:t>gagal</a:t>
            </a:r>
            <a:r>
              <a:rPr dirty="0"/>
              <a:t> </a:t>
            </a:r>
            <a:r>
              <a:rPr dirty="0" err="1"/>
              <a:t>bayar</a:t>
            </a:r>
            <a:r>
              <a:rPr dirty="0"/>
              <a:t> (default).</a:t>
            </a:r>
          </a:p>
          <a:p>
            <a:pPr marL="342900" indent="-342900">
              <a:spcAft>
                <a:spcPts val="2200"/>
              </a:spcAft>
              <a:buFont typeface="Arial" panose="020B0604020202020204" pitchFamily="34" charset="0"/>
              <a:buChar char="•"/>
              <a:defRPr sz="1900">
                <a:solidFill>
                  <a:srgbClr val="5A412D"/>
                </a:solidFill>
                <a:latin typeface="Calibri"/>
              </a:defRPr>
            </a:pPr>
            <a:r>
              <a:rPr dirty="0" err="1"/>
              <a:t>Menemukan</a:t>
            </a:r>
            <a:r>
              <a:rPr dirty="0"/>
              <a:t> </a:t>
            </a:r>
            <a:r>
              <a:rPr dirty="0" err="1"/>
              <a:t>faktor-faktor</a:t>
            </a:r>
            <a:r>
              <a:rPr dirty="0"/>
              <a:t> </a:t>
            </a:r>
            <a:r>
              <a:rPr dirty="0" err="1"/>
              <a:t>utama</a:t>
            </a:r>
            <a:r>
              <a:rPr dirty="0"/>
              <a:t> yang paling </a:t>
            </a:r>
            <a:r>
              <a:rPr dirty="0" err="1"/>
              <a:t>berpengaruh</a:t>
            </a:r>
            <a:r>
              <a:rPr dirty="0"/>
              <a:t> </a:t>
            </a:r>
            <a:r>
              <a:rPr dirty="0" err="1"/>
              <a:t>terhadap</a:t>
            </a:r>
            <a:r>
              <a:rPr dirty="0"/>
              <a:t> </a:t>
            </a:r>
            <a:r>
              <a:rPr dirty="0" err="1"/>
              <a:t>kelancaran</a:t>
            </a:r>
            <a:r>
              <a:rPr dirty="0"/>
              <a:t> </a:t>
            </a:r>
            <a:r>
              <a:rPr dirty="0" err="1"/>
              <a:t>pembayaran</a:t>
            </a:r>
            <a:r>
              <a:rPr dirty="0"/>
              <a:t>.</a:t>
            </a:r>
          </a:p>
          <a:p>
            <a:pPr marL="342900" indent="-342900">
              <a:spcAft>
                <a:spcPts val="2200"/>
              </a:spcAft>
              <a:buFont typeface="Arial" panose="020B0604020202020204" pitchFamily="34" charset="0"/>
              <a:buChar char="•"/>
              <a:defRPr sz="1900">
                <a:solidFill>
                  <a:srgbClr val="5A412D"/>
                </a:solidFill>
                <a:latin typeface="Calibri"/>
              </a:defRPr>
            </a:pPr>
            <a:r>
              <a:rPr dirty="0" err="1"/>
              <a:t>Menyediakan</a:t>
            </a:r>
            <a:r>
              <a:rPr dirty="0"/>
              <a:t> Decision Support System </a:t>
            </a:r>
            <a:r>
              <a:rPr dirty="0" err="1"/>
              <a:t>bagi</a:t>
            </a:r>
            <a:r>
              <a:rPr dirty="0"/>
              <a:t> </a:t>
            </a:r>
            <a:r>
              <a:rPr dirty="0" err="1"/>
              <a:t>tim</a:t>
            </a:r>
            <a:r>
              <a:rPr dirty="0"/>
              <a:t> </a:t>
            </a:r>
            <a:r>
              <a:rPr dirty="0" err="1"/>
              <a:t>analis</a:t>
            </a:r>
            <a:r>
              <a:rPr dirty="0"/>
              <a:t> </a:t>
            </a:r>
            <a:r>
              <a:rPr dirty="0" err="1"/>
              <a:t>kredit</a:t>
            </a:r>
            <a:r>
              <a:rPr dirty="0"/>
              <a:t> — </a:t>
            </a:r>
            <a:r>
              <a:rPr dirty="0" err="1"/>
              <a:t>keputusan</a:t>
            </a:r>
            <a:r>
              <a:rPr dirty="0"/>
              <a:t> </a:t>
            </a:r>
            <a:r>
              <a:rPr dirty="0" err="1"/>
              <a:t>lebih</a:t>
            </a:r>
            <a:r>
              <a:rPr dirty="0"/>
              <a:t> </a:t>
            </a:r>
            <a:r>
              <a:rPr dirty="0" err="1"/>
              <a:t>cepat</a:t>
            </a:r>
            <a:r>
              <a:rPr dirty="0"/>
              <a:t>, </a:t>
            </a:r>
            <a:r>
              <a:rPr dirty="0" err="1"/>
              <a:t>lebih</a:t>
            </a:r>
            <a:r>
              <a:rPr dirty="0"/>
              <a:t> </a:t>
            </a:r>
            <a:r>
              <a:rPr dirty="0" err="1"/>
              <a:t>aman</a:t>
            </a:r>
            <a:r>
              <a:rPr dirty="0"/>
              <a:t>, dan </a:t>
            </a:r>
            <a:r>
              <a:rPr dirty="0" err="1"/>
              <a:t>berbasis</a:t>
            </a:r>
            <a:r>
              <a:rPr dirty="0"/>
              <a:t>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0F1E37"/>
                </a:solidFill>
                <a:latin typeface="Georgia"/>
              </a:defRPr>
            </a:pPr>
            <a:r>
              <a:t>Gambaran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8100"/>
          </a:xfrm>
          <a:prstGeom prst="rect">
            <a:avLst/>
          </a:prstGeom>
          <a:solidFill>
            <a:srgbClr val="B7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19" y="1463040"/>
            <a:ext cx="9894147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rgbClr val="5A412D"/>
                </a:solidFill>
                <a:latin typeface="Calibri"/>
              </a:defRPr>
            </a:pPr>
            <a:r>
              <a:rPr b="1" dirty="0" err="1"/>
              <a:t>Sumber</a:t>
            </a:r>
            <a:r>
              <a:rPr b="1" dirty="0"/>
              <a:t>:</a:t>
            </a:r>
            <a:r>
              <a:rPr dirty="0"/>
              <a:t> loan_data_2007_2014.csv — Data </a:t>
            </a:r>
            <a:r>
              <a:rPr dirty="0" err="1"/>
              <a:t>pinjaman</a:t>
            </a:r>
            <a:r>
              <a:rPr dirty="0"/>
              <a:t> </a:t>
            </a:r>
            <a:r>
              <a:rPr dirty="0" err="1"/>
              <a:t>historis</a:t>
            </a:r>
            <a:r>
              <a:rPr dirty="0"/>
              <a:t>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rgbClr val="5A412D"/>
                </a:solidFill>
                <a:latin typeface="Calibri"/>
              </a:defRPr>
            </a:pPr>
            <a:r>
              <a:rPr b="1" dirty="0" err="1"/>
              <a:t>Ukuran</a:t>
            </a:r>
            <a:r>
              <a:rPr dirty="0"/>
              <a:t>: 466.285 baris  ×  74 </a:t>
            </a:r>
            <a:r>
              <a:rPr dirty="0" err="1"/>
              <a:t>kolom</a:t>
            </a:r>
            <a:r>
              <a:rPr dirty="0"/>
              <a:t> (</a:t>
            </a:r>
            <a:r>
              <a:rPr dirty="0" err="1"/>
              <a:t>variabel</a:t>
            </a:r>
            <a:r>
              <a:rPr dirty="0"/>
              <a:t>).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rgbClr val="5A412D"/>
                </a:solidFill>
                <a:latin typeface="Calibri"/>
              </a:defRPr>
            </a:pPr>
            <a:r>
              <a:rPr b="1" dirty="0"/>
              <a:t>Target: </a:t>
            </a:r>
            <a:r>
              <a:rPr dirty="0" err="1"/>
              <a:t>loan_status</a:t>
            </a:r>
            <a:r>
              <a:rPr dirty="0"/>
              <a:t> — </a:t>
            </a:r>
            <a:r>
              <a:rPr dirty="0" err="1"/>
              <a:t>Kredit</a:t>
            </a:r>
            <a:r>
              <a:rPr dirty="0"/>
              <a:t> </a:t>
            </a:r>
            <a:r>
              <a:rPr dirty="0" err="1"/>
              <a:t>Baik</a:t>
            </a:r>
            <a:r>
              <a:rPr dirty="0"/>
              <a:t> (</a:t>
            </a:r>
            <a:r>
              <a:rPr dirty="0" err="1"/>
              <a:t>Lancar</a:t>
            </a:r>
            <a:r>
              <a:rPr dirty="0"/>
              <a:t>) vs </a:t>
            </a:r>
            <a:r>
              <a:rPr dirty="0" err="1"/>
              <a:t>Kredit</a:t>
            </a:r>
            <a:r>
              <a:rPr dirty="0"/>
              <a:t> </a:t>
            </a:r>
            <a:r>
              <a:rPr dirty="0" err="1"/>
              <a:t>Buruk</a:t>
            </a:r>
            <a:r>
              <a:rPr dirty="0"/>
              <a:t> (</a:t>
            </a:r>
            <a:r>
              <a:rPr dirty="0" err="1"/>
              <a:t>Gagal</a:t>
            </a:r>
            <a:r>
              <a:rPr dirty="0"/>
              <a:t> Bayar / </a:t>
            </a:r>
            <a:r>
              <a:rPr dirty="0" err="1"/>
              <a:t>Telat</a:t>
            </a:r>
            <a:r>
              <a:rPr dirty="0"/>
              <a:t>).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rgbClr val="5A412D"/>
                </a:solidFill>
                <a:latin typeface="Calibri"/>
              </a:defRPr>
            </a:pPr>
            <a:r>
              <a:rPr b="1" dirty="0"/>
              <a:t>Proses </a:t>
            </a:r>
            <a:r>
              <a:rPr b="1" dirty="0" err="1"/>
              <a:t>persiapan</a:t>
            </a:r>
            <a:r>
              <a:rPr b="1" dirty="0"/>
              <a:t>: </a:t>
            </a:r>
            <a:r>
              <a:rPr dirty="0" err="1"/>
              <a:t>pembersihan</a:t>
            </a:r>
            <a:r>
              <a:rPr dirty="0"/>
              <a:t>, encoding, </a:t>
            </a:r>
            <a:r>
              <a:rPr dirty="0" err="1"/>
              <a:t>standarisasi</a:t>
            </a:r>
            <a:r>
              <a:rPr dirty="0"/>
              <a:t> (</a:t>
            </a:r>
            <a:r>
              <a:rPr dirty="0" err="1"/>
              <a:t>StandardScaler</a:t>
            </a:r>
            <a:r>
              <a:rPr dirty="0"/>
              <a:t>), </a:t>
            </a:r>
            <a:r>
              <a:rPr dirty="0" err="1"/>
              <a:t>penanganan</a:t>
            </a:r>
            <a:r>
              <a:rPr dirty="0"/>
              <a:t> data </a:t>
            </a:r>
            <a:r>
              <a:rPr dirty="0" err="1"/>
              <a:t>kosong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0F1E37"/>
                </a:solidFill>
                <a:latin typeface="Georgia"/>
              </a:defRPr>
            </a:pPr>
            <a:r>
              <a:t>Temuan Eksplorasi Data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8100"/>
          </a:xfrm>
          <a:prstGeom prst="rect">
            <a:avLst/>
          </a:prstGeom>
          <a:solidFill>
            <a:srgbClr val="B7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19" y="1463040"/>
            <a:ext cx="10920153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5A412D"/>
                </a:solidFill>
                <a:latin typeface="Calibri"/>
              </a:defRPr>
            </a:pPr>
            <a:r>
              <a:rPr dirty="0" err="1"/>
              <a:t>Mayoritas</a:t>
            </a:r>
            <a:r>
              <a:rPr dirty="0"/>
              <a:t> </a:t>
            </a:r>
            <a:r>
              <a:rPr dirty="0" err="1"/>
              <a:t>nasabah</a:t>
            </a:r>
            <a:r>
              <a:rPr dirty="0"/>
              <a:t> </a:t>
            </a:r>
            <a:r>
              <a:rPr dirty="0" err="1"/>
              <a:t>adalah</a:t>
            </a:r>
            <a:r>
              <a:rPr dirty="0"/>
              <a:t> </a:t>
            </a:r>
            <a:r>
              <a:rPr dirty="0" err="1"/>
              <a:t>Kredit</a:t>
            </a:r>
            <a:r>
              <a:rPr dirty="0"/>
              <a:t> </a:t>
            </a:r>
            <a:r>
              <a:rPr dirty="0" err="1"/>
              <a:t>Baik</a:t>
            </a:r>
            <a:r>
              <a:rPr dirty="0"/>
              <a:t> 81%, </a:t>
            </a:r>
            <a:r>
              <a:rPr dirty="0" err="1"/>
              <a:t>hanya</a:t>
            </a:r>
            <a:r>
              <a:rPr dirty="0"/>
              <a:t> 19% </a:t>
            </a:r>
            <a:r>
              <a:rPr dirty="0" err="1"/>
              <a:t>Kredit</a:t>
            </a:r>
            <a:r>
              <a:rPr dirty="0"/>
              <a:t> </a:t>
            </a:r>
            <a:r>
              <a:rPr dirty="0" err="1"/>
              <a:t>Buruk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1700">
                <a:solidFill>
                  <a:srgbClr val="5A412D"/>
                </a:solidFill>
                <a:latin typeface="Calibri"/>
              </a:defRPr>
            </a:pPr>
            <a:r>
              <a:rPr dirty="0" err="1"/>
              <a:t>Terdapat</a:t>
            </a:r>
            <a:r>
              <a:rPr dirty="0"/>
              <a:t> </a:t>
            </a:r>
            <a:r>
              <a:rPr dirty="0" err="1"/>
              <a:t>hubungan</a:t>
            </a:r>
            <a:r>
              <a:rPr dirty="0"/>
              <a:t> </a:t>
            </a:r>
            <a:r>
              <a:rPr dirty="0" err="1"/>
              <a:t>kuat</a:t>
            </a:r>
            <a:r>
              <a:rPr dirty="0"/>
              <a:t> </a:t>
            </a:r>
            <a:r>
              <a:rPr dirty="0" err="1"/>
              <a:t>antar</a:t>
            </a:r>
            <a:r>
              <a:rPr dirty="0"/>
              <a:t> </a:t>
            </a:r>
            <a:r>
              <a:rPr dirty="0" err="1"/>
              <a:t>beberapa</a:t>
            </a:r>
            <a:r>
              <a:rPr dirty="0"/>
              <a:t> </a:t>
            </a:r>
            <a:r>
              <a:rPr dirty="0" err="1"/>
              <a:t>variabel</a:t>
            </a:r>
            <a:r>
              <a:rPr dirty="0"/>
              <a:t> — </a:t>
            </a:r>
            <a:r>
              <a:rPr dirty="0" err="1"/>
              <a:t>membantu</a:t>
            </a:r>
            <a:r>
              <a:rPr dirty="0"/>
              <a:t> model </a:t>
            </a:r>
            <a:r>
              <a:rPr dirty="0" err="1"/>
              <a:t>memahami</a:t>
            </a:r>
            <a:r>
              <a:rPr dirty="0"/>
              <a:t> </a:t>
            </a:r>
            <a:r>
              <a:rPr dirty="0" err="1"/>
              <a:t>pola</a:t>
            </a:r>
            <a:r>
              <a:rPr dirty="0"/>
              <a:t>.</a:t>
            </a:r>
          </a:p>
        </p:txBody>
      </p:sp>
      <p:pic>
        <p:nvPicPr>
          <p:cNvPr id="5" name="Picture 4" descr="01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800" y="3208867"/>
            <a:ext cx="6139872" cy="248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0466" y="633222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86E64"/>
                </a:solidFill>
                <a:latin typeface="Georgia"/>
              </a:defRPr>
            </a:pPr>
            <a:r>
              <a:t>Distribusi kelas: Kredit Baik vs Kredit Buruk</a:t>
            </a:r>
          </a:p>
        </p:txBody>
      </p:sp>
      <p:pic>
        <p:nvPicPr>
          <p:cNvPr id="7" name="Picture 6" descr="07_target_propor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254" y="3075517"/>
            <a:ext cx="4114800" cy="3086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21792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86E64"/>
                </a:solidFill>
                <a:latin typeface="Georgia"/>
              </a:defRPr>
            </a:pPr>
            <a:r>
              <a:t>Proporsi kelas target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0F1E37"/>
                </a:solidFill>
                <a:latin typeface="Georgia"/>
              </a:defRPr>
            </a:pPr>
            <a:r>
              <a:t>Temuan Eksplorasi Data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8100"/>
          </a:xfrm>
          <a:prstGeom prst="rect">
            <a:avLst/>
          </a:prstGeom>
          <a:solidFill>
            <a:srgbClr val="B7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3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303520" cy="4242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760720"/>
            <a:ext cx="5303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86E64"/>
                </a:solidFill>
                <a:latin typeface="Georgia"/>
              </a:defRPr>
            </a:pPr>
            <a:r>
              <a:t>Heatmap Korelasi — peta hubungan antar variabel</a:t>
            </a:r>
          </a:p>
        </p:txBody>
      </p:sp>
      <p:pic>
        <p:nvPicPr>
          <p:cNvPr id="6" name="Picture 5" descr="06_outlier_box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303520" cy="24106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760720"/>
            <a:ext cx="5303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86E64"/>
                </a:solidFill>
                <a:latin typeface="Georgia"/>
              </a:defRPr>
            </a:pPr>
            <a:r>
              <a:t>Deteksi Outlier — pencilan data yang perlu ditangani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0F1E37"/>
                </a:solidFill>
                <a:latin typeface="Georgia"/>
              </a:defRPr>
            </a:pPr>
            <a:r>
              <a:t>Ketidakseimbangan Data &amp; Solusi (SMOTE)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8100"/>
          </a:xfrm>
          <a:prstGeom prst="rect">
            <a:avLst/>
          </a:prstGeom>
          <a:solidFill>
            <a:srgbClr val="B7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2021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5A412D"/>
                </a:solidFill>
                <a:latin typeface="Calibri"/>
              </a:defRPr>
            </a:pPr>
            <a:r>
              <a:rPr dirty="0" err="1"/>
              <a:t>Masalah</a:t>
            </a:r>
            <a:r>
              <a:rPr dirty="0"/>
              <a:t>: </a:t>
            </a:r>
            <a:r>
              <a:rPr dirty="0" err="1"/>
              <a:t>Jumlah</a:t>
            </a:r>
            <a:r>
              <a:rPr dirty="0"/>
              <a:t> </a:t>
            </a:r>
            <a:r>
              <a:rPr dirty="0" err="1"/>
              <a:t>nasabah</a:t>
            </a:r>
            <a:r>
              <a:rPr dirty="0"/>
              <a:t> </a:t>
            </a:r>
            <a:r>
              <a:rPr dirty="0" err="1"/>
              <a:t>gagal</a:t>
            </a:r>
            <a:r>
              <a:rPr dirty="0"/>
              <a:t> </a:t>
            </a:r>
            <a:r>
              <a:rPr dirty="0" err="1"/>
              <a:t>bayar</a:t>
            </a:r>
            <a:r>
              <a:rPr dirty="0"/>
              <a:t> (19%) </a:t>
            </a:r>
            <a:r>
              <a:rPr dirty="0" err="1"/>
              <a:t>jauh</a:t>
            </a:r>
            <a:r>
              <a:rPr dirty="0"/>
              <a:t> </a:t>
            </a:r>
            <a:r>
              <a:rPr dirty="0" err="1"/>
              <a:t>lebih</a:t>
            </a:r>
            <a:r>
              <a:rPr dirty="0"/>
              <a:t> </a:t>
            </a:r>
            <a:r>
              <a:rPr dirty="0" err="1"/>
              <a:t>sedikit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yang </a:t>
            </a:r>
            <a:r>
              <a:rPr dirty="0" err="1"/>
              <a:t>lancar</a:t>
            </a:r>
            <a:r>
              <a:rPr dirty="0"/>
              <a:t> (81%).</a:t>
            </a:r>
          </a:p>
          <a:p>
            <a:pPr>
              <a:spcAft>
                <a:spcPts val="1400"/>
              </a:spcAft>
              <a:defRPr sz="1700">
                <a:solidFill>
                  <a:srgbClr val="5A412D"/>
                </a:solidFill>
                <a:latin typeface="Calibri"/>
              </a:defRPr>
            </a:pPr>
            <a:r>
              <a:rPr dirty="0" err="1"/>
              <a:t>Dampak</a:t>
            </a:r>
            <a:r>
              <a:rPr dirty="0"/>
              <a:t>: </a:t>
            </a:r>
            <a:r>
              <a:rPr dirty="0" err="1"/>
              <a:t>Tanpa</a:t>
            </a:r>
            <a:r>
              <a:rPr dirty="0"/>
              <a:t> </a:t>
            </a:r>
            <a:r>
              <a:rPr dirty="0" err="1"/>
              <a:t>penanganan</a:t>
            </a:r>
            <a:r>
              <a:rPr dirty="0"/>
              <a:t>, model </a:t>
            </a:r>
            <a:r>
              <a:rPr dirty="0" err="1"/>
              <a:t>bisa</a:t>
            </a:r>
            <a:r>
              <a:rPr dirty="0"/>
              <a:t> 'malas' — </a:t>
            </a:r>
            <a:r>
              <a:rPr dirty="0" err="1"/>
              <a:t>menebak</a:t>
            </a:r>
            <a:r>
              <a:rPr dirty="0"/>
              <a:t> </a:t>
            </a:r>
            <a:r>
              <a:rPr dirty="0" err="1"/>
              <a:t>semua</a:t>
            </a:r>
            <a:r>
              <a:rPr dirty="0"/>
              <a:t> </a:t>
            </a:r>
            <a:r>
              <a:rPr dirty="0" err="1"/>
              <a:t>nasabah</a:t>
            </a:r>
            <a:r>
              <a:rPr dirty="0"/>
              <a:t> </a:t>
            </a:r>
            <a:r>
              <a:rPr dirty="0" err="1"/>
              <a:t>pasti</a:t>
            </a:r>
            <a:r>
              <a:rPr dirty="0"/>
              <a:t> </a:t>
            </a:r>
            <a:r>
              <a:rPr dirty="0" err="1"/>
              <a:t>aman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1700">
                <a:solidFill>
                  <a:srgbClr val="5A412D"/>
                </a:solidFill>
                <a:latin typeface="Calibri"/>
              </a:defRPr>
            </a:pPr>
            <a:r>
              <a:rPr dirty="0"/>
              <a:t>Solusi → SMOTE: </a:t>
            </a:r>
            <a:r>
              <a:rPr dirty="0" err="1"/>
              <a:t>membuat</a:t>
            </a:r>
            <a:r>
              <a:rPr dirty="0"/>
              <a:t> data </a:t>
            </a:r>
            <a:r>
              <a:rPr dirty="0" err="1"/>
              <a:t>sintetis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kelas</a:t>
            </a:r>
            <a:r>
              <a:rPr dirty="0"/>
              <a:t> </a:t>
            </a:r>
            <a:r>
              <a:rPr dirty="0" err="1"/>
              <a:t>minoritas</a:t>
            </a:r>
            <a:r>
              <a:rPr dirty="0"/>
              <a:t> agar </a:t>
            </a:r>
            <a:r>
              <a:rPr dirty="0" err="1"/>
              <a:t>seimbang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 i="1">
                <a:solidFill>
                  <a:srgbClr val="B79650"/>
                </a:solidFill>
                <a:latin typeface="Georgia"/>
              </a:defRPr>
            </a:pPr>
            <a:r>
              <a:t>Analogi: Memperbanyak soal latihan tentang materi ujian tersulit agar siswa lebih siap.</a:t>
            </a:r>
          </a:p>
        </p:txBody>
      </p:sp>
      <p:pic>
        <p:nvPicPr>
          <p:cNvPr id="6" name="Picture 5" descr="08_smot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17961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31282" y="3167743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86E64"/>
                </a:solidFill>
                <a:latin typeface="Georgia"/>
              </a:defRPr>
            </a:pPr>
            <a:r>
              <a:rPr dirty="0" err="1"/>
              <a:t>Perbandingan</a:t>
            </a:r>
            <a:r>
              <a:rPr dirty="0"/>
              <a:t> </a:t>
            </a:r>
            <a:r>
              <a:rPr dirty="0" err="1"/>
              <a:t>distribusi</a:t>
            </a:r>
            <a:r>
              <a:rPr dirty="0"/>
              <a:t> </a:t>
            </a:r>
            <a:r>
              <a:rPr dirty="0" err="1"/>
              <a:t>sebelum</a:t>
            </a:r>
            <a:r>
              <a:rPr dirty="0"/>
              <a:t> &amp; </a:t>
            </a:r>
            <a:r>
              <a:rPr dirty="0" err="1"/>
              <a:t>sesudah</a:t>
            </a:r>
            <a:r>
              <a:rPr dirty="0"/>
              <a:t> SMOTE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0F1E37"/>
                </a:solidFill>
                <a:latin typeface="Georgia"/>
              </a:defRPr>
            </a:pPr>
            <a:r>
              <a:t>Pendekatan Pemodelan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8100"/>
          </a:xfrm>
          <a:prstGeom prst="rect">
            <a:avLst/>
          </a:prstGeom>
          <a:solidFill>
            <a:srgbClr val="B7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A412D"/>
                </a:solidFill>
                <a:latin typeface="Calibri"/>
              </a:defRPr>
            </a:pPr>
            <a:r>
              <a:t>Kami menguji 5 algoritma Machine Learning ('otak' pintar yang belajar dari data):</a:t>
            </a:r>
          </a:p>
          <a:p>
            <a:pPr>
              <a:spcAft>
                <a:spcPts val="1400"/>
              </a:spcAft>
              <a:defRPr sz="1800">
                <a:solidFill>
                  <a:srgbClr val="5A412D"/>
                </a:solidFill>
                <a:latin typeface="Calibri"/>
              </a:defRPr>
            </a:pPr>
            <a:r>
              <a:t>① Logistic Regression — metode statistik klasik dan sederhana.</a:t>
            </a:r>
          </a:p>
          <a:p>
            <a:pPr>
              <a:spcAft>
                <a:spcPts val="1400"/>
              </a:spcAft>
              <a:defRPr sz="1800">
                <a:solidFill>
                  <a:srgbClr val="5A412D"/>
                </a:solidFill>
                <a:latin typeface="Calibri"/>
              </a:defRPr>
            </a:pPr>
            <a:r>
              <a:t>② Decision Tree — bekerja seperti pohon keputusan bercabang.</a:t>
            </a:r>
          </a:p>
          <a:p>
            <a:pPr>
              <a:spcAft>
                <a:spcPts val="1400"/>
              </a:spcAft>
              <a:defRPr sz="1800">
                <a:solidFill>
                  <a:srgbClr val="5A412D"/>
                </a:solidFill>
                <a:latin typeface="Calibri"/>
              </a:defRPr>
            </a:pPr>
            <a:r>
              <a:t>③ Random Forest — gabungan banyak pohon keputusan untuk hasil lebih stabil.</a:t>
            </a:r>
          </a:p>
          <a:p>
            <a:pPr>
              <a:spcAft>
                <a:spcPts val="1400"/>
              </a:spcAft>
              <a:defRPr sz="1800">
                <a:solidFill>
                  <a:srgbClr val="5A412D"/>
                </a:solidFill>
                <a:latin typeface="Calibri"/>
              </a:defRPr>
            </a:pPr>
            <a:r>
              <a:t>④ XGBoost (Baseline) — metode canggih yang belajar dari kesalahannya secara berulang.</a:t>
            </a:r>
          </a:p>
          <a:p>
            <a:pPr>
              <a:spcAft>
                <a:spcPts val="1400"/>
              </a:spcAft>
              <a:defRPr sz="1800">
                <a:solidFill>
                  <a:srgbClr val="5A412D"/>
                </a:solidFill>
                <a:latin typeface="Calibri"/>
              </a:defRPr>
            </a:pPr>
            <a:r>
              <a:t>⑤ XGBoost Tuned — XGBoost yang telah 'disetel' parameternya agar optimal.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 i="1">
                <a:solidFill>
                  <a:srgbClr val="B79650"/>
                </a:solidFill>
                <a:latin typeface="Georgia"/>
              </a:defRPr>
            </a:pPr>
            <a:r>
              <a:rPr dirty="0" err="1"/>
              <a:t>Metrik</a:t>
            </a:r>
            <a:r>
              <a:rPr dirty="0"/>
              <a:t> </a:t>
            </a:r>
            <a:r>
              <a:rPr dirty="0" err="1"/>
              <a:t>utama</a:t>
            </a:r>
            <a:r>
              <a:rPr dirty="0"/>
              <a:t>: AUC (Area Under Curve) — </a:t>
            </a:r>
            <a:r>
              <a:rPr dirty="0" err="1"/>
              <a:t>seberapa</a:t>
            </a:r>
            <a:r>
              <a:rPr dirty="0"/>
              <a:t> '</a:t>
            </a:r>
            <a:r>
              <a:rPr dirty="0" err="1"/>
              <a:t>jago</a:t>
            </a:r>
            <a:r>
              <a:rPr dirty="0"/>
              <a:t>' model </a:t>
            </a:r>
            <a:r>
              <a:rPr dirty="0" err="1"/>
              <a:t>membedakan</a:t>
            </a:r>
            <a:r>
              <a:rPr dirty="0"/>
              <a:t> </a:t>
            </a:r>
            <a:r>
              <a:rPr dirty="0" err="1"/>
              <a:t>nasabah</a:t>
            </a:r>
            <a:r>
              <a:rPr dirty="0"/>
              <a:t> </a:t>
            </a:r>
            <a:r>
              <a:rPr dirty="0" err="1"/>
              <a:t>berisiko</a:t>
            </a:r>
            <a:r>
              <a:rPr dirty="0"/>
              <a:t> vs </a:t>
            </a:r>
            <a:r>
              <a:rPr dirty="0" err="1"/>
              <a:t>aman</a:t>
            </a:r>
            <a:r>
              <a:rPr dirty="0"/>
              <a:t>. </a:t>
            </a:r>
            <a:r>
              <a:rPr dirty="0" err="1"/>
              <a:t>Semakin</a:t>
            </a:r>
            <a:r>
              <a:rPr dirty="0"/>
              <a:t> </a:t>
            </a:r>
            <a:r>
              <a:rPr dirty="0" err="1"/>
              <a:t>mendekati</a:t>
            </a:r>
            <a:r>
              <a:rPr dirty="0"/>
              <a:t> 1, </a:t>
            </a:r>
            <a:r>
              <a:rPr dirty="0" err="1"/>
              <a:t>semakin</a:t>
            </a:r>
            <a:r>
              <a:rPr dirty="0"/>
              <a:t> </a:t>
            </a:r>
            <a:r>
              <a:rPr dirty="0" err="1"/>
              <a:t>baik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0F1E37"/>
                </a:solidFill>
                <a:latin typeface="Georgia"/>
              </a:defRPr>
            </a:pPr>
            <a:r>
              <a:t>Perbandingan Performa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8100"/>
          </a:xfrm>
          <a:prstGeom prst="rect">
            <a:avLst/>
          </a:prstGeom>
          <a:solidFill>
            <a:srgbClr val="B7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21208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5A412D"/>
                </a:solidFill>
                <a:latin typeface="Calibri"/>
              </a:defRPr>
            </a:pPr>
            <a:r>
              <a:rPr dirty="0" err="1"/>
              <a:t>XGBoost</a:t>
            </a:r>
            <a:r>
              <a:rPr dirty="0"/>
              <a:t> Tuned </a:t>
            </a:r>
            <a:r>
              <a:rPr dirty="0" err="1"/>
              <a:t>memiliki</a:t>
            </a:r>
            <a:r>
              <a:rPr dirty="0"/>
              <a:t> AUC </a:t>
            </a:r>
            <a:r>
              <a:rPr dirty="0" err="1"/>
              <a:t>tertinggi</a:t>
            </a:r>
            <a:r>
              <a:rPr dirty="0"/>
              <a:t> (0.7007) — </a:t>
            </a:r>
            <a:r>
              <a:rPr dirty="0" err="1"/>
              <a:t>artinya</a:t>
            </a:r>
            <a:r>
              <a:rPr dirty="0"/>
              <a:t> paling </a:t>
            </a:r>
            <a:r>
              <a:rPr dirty="0" err="1"/>
              <a:t>mampu</a:t>
            </a:r>
            <a:r>
              <a:rPr dirty="0"/>
              <a:t> </a:t>
            </a:r>
            <a:r>
              <a:rPr dirty="0" err="1"/>
              <a:t>membedakan</a:t>
            </a:r>
            <a:r>
              <a:rPr dirty="0"/>
              <a:t> </a:t>
            </a:r>
            <a:r>
              <a:rPr dirty="0" err="1"/>
              <a:t>nasabah</a:t>
            </a:r>
            <a:r>
              <a:rPr dirty="0"/>
              <a:t> </a:t>
            </a:r>
            <a:r>
              <a:rPr dirty="0" err="1"/>
              <a:t>berisiko</a:t>
            </a:r>
            <a:r>
              <a:rPr dirty="0"/>
              <a:t>.</a:t>
            </a:r>
          </a:p>
          <a:p>
            <a:pPr>
              <a:spcAft>
                <a:spcPts val="1200"/>
              </a:spcAft>
              <a:defRPr sz="1700">
                <a:solidFill>
                  <a:srgbClr val="5A412D"/>
                </a:solidFill>
                <a:latin typeface="Calibri"/>
              </a:defRPr>
            </a:pPr>
            <a:r>
              <a:rPr dirty="0"/>
              <a:t>Recall </a:t>
            </a:r>
            <a:r>
              <a:rPr dirty="0" err="1"/>
              <a:t>tertinggi</a:t>
            </a:r>
            <a:r>
              <a:rPr dirty="0"/>
              <a:t> juga pada </a:t>
            </a:r>
            <a:r>
              <a:rPr dirty="0" err="1"/>
              <a:t>XGBoost</a:t>
            </a:r>
            <a:r>
              <a:rPr dirty="0"/>
              <a:t> Tuned (0.2295) — paling </a:t>
            </a:r>
            <a:r>
              <a:rPr dirty="0" err="1"/>
              <a:t>banyak</a:t>
            </a:r>
            <a:r>
              <a:rPr dirty="0"/>
              <a:t> </a:t>
            </a:r>
            <a:r>
              <a:rPr dirty="0" err="1"/>
              <a:t>menangkap</a:t>
            </a:r>
            <a:r>
              <a:rPr dirty="0"/>
              <a:t> </a:t>
            </a:r>
            <a:r>
              <a:rPr dirty="0" err="1"/>
              <a:t>nasabah</a:t>
            </a:r>
            <a:r>
              <a:rPr dirty="0"/>
              <a:t> </a:t>
            </a:r>
            <a:r>
              <a:rPr dirty="0" err="1"/>
              <a:t>berisiko</a:t>
            </a:r>
            <a:r>
              <a:rPr dirty="0"/>
              <a:t>.</a:t>
            </a:r>
          </a:p>
        </p:txBody>
      </p:sp>
      <p:pic>
        <p:nvPicPr>
          <p:cNvPr id="5" name="Picture 4" descr="15_final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54864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86E64"/>
                </a:solidFill>
                <a:latin typeface="Georgia"/>
              </a:defRPr>
            </a:pPr>
            <a:r>
              <a:t>Ringkasan metrik semua model — XGBoost Tuned unggul di AUC &amp; Recall</a:t>
            </a:r>
          </a:p>
        </p:txBody>
      </p:sp>
      <p:pic>
        <p:nvPicPr>
          <p:cNvPr id="7" name="Picture 6" descr="10_roc_curv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02920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94360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86E64"/>
                </a:solidFill>
                <a:latin typeface="Georgia"/>
              </a:defRPr>
            </a:pPr>
            <a:r>
              <a:t>Kurva ROC: semakin melengkung ke kiri atas, semakin baik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0F1E37"/>
                </a:solidFill>
                <a:latin typeface="Georgia"/>
              </a:defRPr>
            </a:pPr>
            <a:r>
              <a:t>Model Terpilih: XGBoost Tuned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8100"/>
          </a:xfrm>
          <a:prstGeom prst="rect">
            <a:avLst/>
          </a:prstGeom>
          <a:solidFill>
            <a:srgbClr val="B7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19" y="1463040"/>
            <a:ext cx="11367347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5A412D"/>
                </a:solidFill>
                <a:latin typeface="Calibri"/>
              </a:defRPr>
            </a:pPr>
            <a:r>
              <a:rPr b="1" dirty="0"/>
              <a:t>AUC = 0.7007 </a:t>
            </a:r>
            <a:r>
              <a:rPr dirty="0"/>
              <a:t>— </a:t>
            </a:r>
            <a:r>
              <a:rPr dirty="0" err="1"/>
              <a:t>tertinggi</a:t>
            </a:r>
            <a:r>
              <a:rPr dirty="0"/>
              <a:t> di </a:t>
            </a:r>
            <a:r>
              <a:rPr dirty="0" err="1"/>
              <a:t>antara</a:t>
            </a:r>
            <a:r>
              <a:rPr dirty="0"/>
              <a:t> </a:t>
            </a:r>
            <a:r>
              <a:rPr dirty="0" err="1"/>
              <a:t>semua</a:t>
            </a:r>
            <a:r>
              <a:rPr dirty="0"/>
              <a:t> model yang </a:t>
            </a:r>
            <a:r>
              <a:rPr dirty="0" err="1"/>
              <a:t>diuji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1600">
                <a:solidFill>
                  <a:srgbClr val="5A412D"/>
                </a:solidFill>
                <a:latin typeface="Calibri"/>
              </a:defRPr>
            </a:pPr>
            <a:r>
              <a:rPr b="1" dirty="0"/>
              <a:t>Precision (0.42) </a:t>
            </a:r>
            <a:r>
              <a:rPr dirty="0"/>
              <a:t>= </a:t>
            </a:r>
            <a:r>
              <a:rPr dirty="0" err="1"/>
              <a:t>dari</a:t>
            </a:r>
            <a:r>
              <a:rPr dirty="0"/>
              <a:t> yang </a:t>
            </a:r>
            <a:r>
              <a:rPr dirty="0" err="1"/>
              <a:t>diprediksi</a:t>
            </a:r>
            <a:r>
              <a:rPr dirty="0"/>
              <a:t> </a:t>
            </a:r>
            <a:r>
              <a:rPr dirty="0" err="1"/>
              <a:t>berisiko</a:t>
            </a:r>
            <a:r>
              <a:rPr dirty="0"/>
              <a:t>, 42% </a:t>
            </a:r>
            <a:r>
              <a:rPr dirty="0" err="1"/>
              <a:t>benar-benar</a:t>
            </a:r>
            <a:r>
              <a:rPr dirty="0"/>
              <a:t> </a:t>
            </a:r>
            <a:r>
              <a:rPr dirty="0" err="1"/>
              <a:t>berisiko</a:t>
            </a:r>
            <a:r>
              <a:rPr dirty="0"/>
              <a:t>. → </a:t>
            </a:r>
            <a:r>
              <a:rPr dirty="0" err="1"/>
              <a:t>Mengurangi</a:t>
            </a:r>
            <a:r>
              <a:rPr dirty="0"/>
              <a:t> </a:t>
            </a:r>
            <a:r>
              <a:rPr dirty="0" err="1"/>
              <a:t>penolakan</a:t>
            </a:r>
            <a:r>
              <a:rPr dirty="0"/>
              <a:t> salah </a:t>
            </a:r>
            <a:r>
              <a:rPr dirty="0" err="1"/>
              <a:t>terhadap</a:t>
            </a:r>
            <a:r>
              <a:rPr dirty="0"/>
              <a:t> </a:t>
            </a:r>
            <a:r>
              <a:rPr dirty="0" err="1"/>
              <a:t>nasabah</a:t>
            </a:r>
            <a:r>
              <a:rPr dirty="0"/>
              <a:t> </a:t>
            </a:r>
            <a:r>
              <a:rPr dirty="0" err="1"/>
              <a:t>baik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1600">
                <a:solidFill>
                  <a:srgbClr val="5A412D"/>
                </a:solidFill>
                <a:latin typeface="Calibri"/>
              </a:defRPr>
            </a:pPr>
            <a:r>
              <a:rPr b="1" dirty="0"/>
              <a:t>Recall (0.23)</a:t>
            </a:r>
            <a:r>
              <a:rPr dirty="0"/>
              <a:t> =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semua</a:t>
            </a:r>
            <a:r>
              <a:rPr dirty="0"/>
              <a:t> </a:t>
            </a:r>
            <a:r>
              <a:rPr dirty="0" err="1"/>
              <a:t>nasabah</a:t>
            </a:r>
            <a:r>
              <a:rPr dirty="0"/>
              <a:t> </a:t>
            </a:r>
            <a:r>
              <a:rPr dirty="0" err="1"/>
              <a:t>berisiko</a:t>
            </a:r>
            <a:r>
              <a:rPr dirty="0"/>
              <a:t>, 23% </a:t>
            </a:r>
            <a:r>
              <a:rPr dirty="0" err="1"/>
              <a:t>berhasil</a:t>
            </a:r>
            <a:r>
              <a:rPr dirty="0"/>
              <a:t> </a:t>
            </a:r>
            <a:r>
              <a:rPr dirty="0" err="1"/>
              <a:t>tertangkap</a:t>
            </a:r>
            <a:r>
              <a:rPr dirty="0"/>
              <a:t>. → </a:t>
            </a:r>
            <a:r>
              <a:rPr dirty="0" err="1"/>
              <a:t>Perlindungan</a:t>
            </a:r>
            <a:r>
              <a:rPr dirty="0"/>
              <a:t> </a:t>
            </a:r>
            <a:r>
              <a:rPr dirty="0" err="1"/>
              <a:t>awal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kerugian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1600">
                <a:solidFill>
                  <a:srgbClr val="5A412D"/>
                </a:solidFill>
                <a:latin typeface="Calibri"/>
              </a:defRPr>
            </a:pPr>
            <a:r>
              <a:rPr b="1" dirty="0"/>
              <a:t>Trade-off </a:t>
            </a:r>
            <a:r>
              <a:rPr b="1" dirty="0" err="1"/>
              <a:t>bisnis</a:t>
            </a:r>
            <a:r>
              <a:rPr b="1" dirty="0"/>
              <a:t>: </a:t>
            </a:r>
            <a:r>
              <a:rPr dirty="0" err="1"/>
              <a:t>meningkatkan</a:t>
            </a:r>
            <a:r>
              <a:rPr dirty="0"/>
              <a:t> Recall = </a:t>
            </a:r>
            <a:r>
              <a:rPr dirty="0" err="1"/>
              <a:t>lebih</a:t>
            </a:r>
            <a:r>
              <a:rPr dirty="0"/>
              <a:t> </a:t>
            </a:r>
            <a:r>
              <a:rPr dirty="0" err="1"/>
              <a:t>banyak</a:t>
            </a:r>
            <a:r>
              <a:rPr dirty="0"/>
              <a:t> </a:t>
            </a:r>
            <a:r>
              <a:rPr dirty="0" err="1"/>
              <a:t>nasabah</a:t>
            </a:r>
            <a:r>
              <a:rPr dirty="0"/>
              <a:t> </a:t>
            </a:r>
            <a:r>
              <a:rPr dirty="0" err="1"/>
              <a:t>berisiko</a:t>
            </a:r>
            <a:r>
              <a:rPr dirty="0"/>
              <a:t> </a:t>
            </a:r>
            <a:r>
              <a:rPr dirty="0" err="1"/>
              <a:t>terdeteksi</a:t>
            </a:r>
            <a:r>
              <a:rPr dirty="0"/>
              <a:t>, </a:t>
            </a:r>
            <a:r>
              <a:rPr dirty="0" err="1"/>
              <a:t>namun</a:t>
            </a:r>
            <a:r>
              <a:rPr dirty="0"/>
              <a:t> </a:t>
            </a:r>
            <a:r>
              <a:rPr dirty="0" err="1"/>
              <a:t>beberapa</a:t>
            </a:r>
            <a:r>
              <a:rPr dirty="0"/>
              <a:t> </a:t>
            </a:r>
            <a:r>
              <a:rPr dirty="0" err="1"/>
              <a:t>nasabah</a:t>
            </a:r>
            <a:r>
              <a:rPr dirty="0"/>
              <a:t> </a:t>
            </a:r>
            <a:r>
              <a:rPr dirty="0" err="1"/>
              <a:t>baik</a:t>
            </a:r>
            <a:r>
              <a:rPr dirty="0"/>
              <a:t> </a:t>
            </a:r>
            <a:r>
              <a:rPr dirty="0" err="1"/>
              <a:t>mungkin</a:t>
            </a:r>
            <a:r>
              <a:rPr dirty="0"/>
              <a:t> </a:t>
            </a:r>
            <a:r>
              <a:rPr dirty="0" err="1"/>
              <a:t>ikut</a:t>
            </a:r>
            <a:r>
              <a:rPr dirty="0"/>
              <a:t> </a:t>
            </a:r>
            <a:r>
              <a:rPr dirty="0" err="1"/>
              <a:t>tertandai</a:t>
            </a:r>
            <a:r>
              <a:rPr dirty="0"/>
              <a:t>.</a:t>
            </a:r>
          </a:p>
        </p:txBody>
      </p:sp>
      <p:pic>
        <p:nvPicPr>
          <p:cNvPr id="5" name="Picture 4" descr="13_roc_baseline_vs_tu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893" y="3429000"/>
            <a:ext cx="3778898" cy="29391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7856" y="6368143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86E64"/>
                </a:solidFill>
                <a:latin typeface="Georgia"/>
              </a:defRPr>
            </a:pPr>
            <a:r>
              <a:rPr dirty="0"/>
              <a:t>ROC: Baseline vs Tuned — </a:t>
            </a:r>
            <a:r>
              <a:rPr dirty="0" err="1"/>
              <a:t>peningkatan</a:t>
            </a:r>
            <a:r>
              <a:rPr dirty="0"/>
              <a:t> </a:t>
            </a:r>
            <a:r>
              <a:rPr dirty="0" err="1"/>
              <a:t>setelah</a:t>
            </a:r>
            <a:r>
              <a:rPr dirty="0"/>
              <a:t> tuning</a:t>
            </a:r>
          </a:p>
        </p:txBody>
      </p:sp>
      <p:pic>
        <p:nvPicPr>
          <p:cNvPr id="7" name="Picture 6" descr="12_cm_xgboost_tu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8999"/>
            <a:ext cx="4114800" cy="29391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0" y="644144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86E64"/>
                </a:solidFill>
                <a:latin typeface="Georgia"/>
              </a:defRPr>
            </a:pPr>
            <a:r>
              <a:rPr dirty="0"/>
              <a:t>Confusion Matrix: </a:t>
            </a:r>
            <a:r>
              <a:rPr dirty="0" err="1"/>
              <a:t>tabel</a:t>
            </a:r>
            <a:r>
              <a:rPr dirty="0"/>
              <a:t> </a:t>
            </a:r>
            <a:r>
              <a:rPr dirty="0" err="1"/>
              <a:t>tebakan</a:t>
            </a:r>
            <a:r>
              <a:rPr dirty="0"/>
              <a:t> model vs </a:t>
            </a:r>
            <a:r>
              <a:rPr dirty="0" err="1"/>
              <a:t>realita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19" y="365760"/>
            <a:ext cx="10791613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0F1E37"/>
                </a:solidFill>
                <a:latin typeface="Georgia"/>
              </a:defRPr>
            </a:pPr>
            <a:r>
              <a:rPr dirty="0" err="1"/>
              <a:t>Optimasi</a:t>
            </a:r>
            <a:r>
              <a:rPr dirty="0"/>
              <a:t> Threshold (</a:t>
            </a:r>
            <a:r>
              <a:rPr dirty="0" err="1"/>
              <a:t>Titik</a:t>
            </a:r>
            <a:r>
              <a:rPr dirty="0"/>
              <a:t> Batas Keputusan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8100"/>
          </a:xfrm>
          <a:prstGeom prst="rect">
            <a:avLst/>
          </a:prstGeom>
          <a:solidFill>
            <a:srgbClr val="B7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1064240" cy="1236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5A412D"/>
                </a:solidFill>
                <a:latin typeface="Calibri"/>
              </a:defRPr>
            </a:pPr>
            <a:r>
              <a:rPr b="1" dirty="0"/>
              <a:t>Threshold </a:t>
            </a:r>
            <a:r>
              <a:rPr dirty="0"/>
              <a:t>= 'Batas Nilai KKM'. Jika </a:t>
            </a:r>
            <a:r>
              <a:rPr dirty="0" err="1"/>
              <a:t>skor</a:t>
            </a:r>
            <a:r>
              <a:rPr dirty="0"/>
              <a:t> </a:t>
            </a:r>
            <a:r>
              <a:rPr dirty="0" err="1"/>
              <a:t>risiko</a:t>
            </a:r>
            <a:r>
              <a:rPr dirty="0"/>
              <a:t> </a:t>
            </a:r>
            <a:r>
              <a:rPr dirty="0" err="1"/>
              <a:t>nasabah</a:t>
            </a:r>
            <a:r>
              <a:rPr dirty="0"/>
              <a:t> di </a:t>
            </a:r>
            <a:r>
              <a:rPr dirty="0" err="1"/>
              <a:t>atas</a:t>
            </a:r>
            <a:r>
              <a:rPr dirty="0"/>
              <a:t> batas </a:t>
            </a:r>
            <a:r>
              <a:rPr dirty="0" err="1"/>
              <a:t>ini</a:t>
            </a:r>
            <a:r>
              <a:rPr dirty="0"/>
              <a:t> → </a:t>
            </a:r>
            <a:r>
              <a:rPr dirty="0" err="1"/>
              <a:t>pinjaman</a:t>
            </a:r>
            <a:r>
              <a:rPr dirty="0"/>
              <a:t> </a:t>
            </a:r>
            <a:r>
              <a:rPr dirty="0" err="1"/>
              <a:t>ditolak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1700">
                <a:solidFill>
                  <a:srgbClr val="5A412D"/>
                </a:solidFill>
                <a:latin typeface="Calibri"/>
              </a:defRPr>
            </a:pPr>
            <a:r>
              <a:rPr b="1" dirty="0"/>
              <a:t>Default threshold </a:t>
            </a:r>
            <a:r>
              <a:rPr dirty="0"/>
              <a:t>= 0.5. </a:t>
            </a:r>
            <a:r>
              <a:rPr dirty="0" err="1"/>
              <a:t>Namun</a:t>
            </a:r>
            <a:r>
              <a:rPr dirty="0"/>
              <a:t>, batas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belum</a:t>
            </a:r>
            <a:r>
              <a:rPr dirty="0"/>
              <a:t> </a:t>
            </a:r>
            <a:r>
              <a:rPr dirty="0" err="1"/>
              <a:t>tentu</a:t>
            </a:r>
            <a:r>
              <a:rPr dirty="0"/>
              <a:t> optimal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kasus</a:t>
            </a:r>
            <a:r>
              <a:rPr dirty="0"/>
              <a:t> </a:t>
            </a:r>
            <a:r>
              <a:rPr dirty="0" err="1"/>
              <a:t>bisnis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1700">
                <a:solidFill>
                  <a:srgbClr val="5A412D"/>
                </a:solidFill>
                <a:latin typeface="Calibri"/>
              </a:defRPr>
            </a:pPr>
            <a:r>
              <a:rPr dirty="0"/>
              <a:t>Kami </a:t>
            </a:r>
            <a:r>
              <a:rPr dirty="0" err="1"/>
              <a:t>mencari</a:t>
            </a:r>
            <a:r>
              <a:rPr dirty="0"/>
              <a:t> </a:t>
            </a:r>
            <a:r>
              <a:rPr dirty="0" err="1"/>
              <a:t>titik</a:t>
            </a:r>
            <a:r>
              <a:rPr dirty="0"/>
              <a:t> </a:t>
            </a:r>
            <a:r>
              <a:rPr dirty="0" err="1"/>
              <a:t>keseimbangan</a:t>
            </a:r>
            <a:r>
              <a:rPr dirty="0"/>
              <a:t> </a:t>
            </a:r>
            <a:r>
              <a:rPr dirty="0" err="1"/>
              <a:t>terbaik</a:t>
            </a:r>
            <a:r>
              <a:rPr dirty="0"/>
              <a:t>: </a:t>
            </a:r>
            <a:r>
              <a:rPr dirty="0" err="1"/>
              <a:t>menolak</a:t>
            </a:r>
            <a:r>
              <a:rPr dirty="0"/>
              <a:t> yang </a:t>
            </a:r>
            <a:r>
              <a:rPr dirty="0" err="1"/>
              <a:t>berisiko</a:t>
            </a:r>
            <a:r>
              <a:rPr dirty="0"/>
              <a:t> </a:t>
            </a:r>
            <a:r>
              <a:rPr dirty="0" err="1"/>
              <a:t>tanpa</a:t>
            </a:r>
            <a:r>
              <a:rPr dirty="0"/>
              <a:t> </a:t>
            </a:r>
            <a:r>
              <a:rPr dirty="0" err="1"/>
              <a:t>kehilangan</a:t>
            </a:r>
            <a:r>
              <a:rPr dirty="0"/>
              <a:t> </a:t>
            </a:r>
            <a:r>
              <a:rPr dirty="0" err="1"/>
              <a:t>terlalu</a:t>
            </a:r>
            <a:r>
              <a:rPr dirty="0"/>
              <a:t> </a:t>
            </a:r>
            <a:r>
              <a:rPr dirty="0" err="1"/>
              <a:t>banyak</a:t>
            </a:r>
            <a:r>
              <a:rPr dirty="0"/>
              <a:t> </a:t>
            </a:r>
            <a:r>
              <a:rPr dirty="0" err="1"/>
              <a:t>nasabah</a:t>
            </a:r>
            <a:r>
              <a:rPr dirty="0"/>
              <a:t> </a:t>
            </a:r>
            <a:r>
              <a:rPr dirty="0" err="1"/>
              <a:t>baik</a:t>
            </a:r>
            <a:r>
              <a:rPr dirty="0"/>
              <a:t>.</a:t>
            </a:r>
          </a:p>
        </p:txBody>
      </p:sp>
      <p:pic>
        <p:nvPicPr>
          <p:cNvPr id="5" name="Picture 4" descr="16_threshold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3018418"/>
            <a:ext cx="530352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760720"/>
            <a:ext cx="5303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86E64"/>
                </a:solidFill>
                <a:latin typeface="Georgia"/>
              </a:defRPr>
            </a:pPr>
            <a:r>
              <a:rPr dirty="0" err="1"/>
              <a:t>Analisis</a:t>
            </a:r>
            <a:r>
              <a:rPr dirty="0"/>
              <a:t> threshold: </a:t>
            </a:r>
            <a:r>
              <a:rPr dirty="0" err="1"/>
              <a:t>mencari</a:t>
            </a:r>
            <a:r>
              <a:rPr dirty="0"/>
              <a:t> </a:t>
            </a:r>
            <a:r>
              <a:rPr dirty="0" err="1"/>
              <a:t>titik</a:t>
            </a:r>
            <a:r>
              <a:rPr dirty="0"/>
              <a:t> </a:t>
            </a:r>
            <a:r>
              <a:rPr dirty="0" err="1"/>
              <a:t>keseimbangan</a:t>
            </a:r>
            <a:r>
              <a:rPr dirty="0"/>
              <a:t> </a:t>
            </a:r>
            <a:r>
              <a:rPr dirty="0" err="1"/>
              <a:t>antara</a:t>
            </a:r>
            <a:r>
              <a:rPr dirty="0"/>
              <a:t> Precision &amp; Recall</a:t>
            </a:r>
          </a:p>
        </p:txBody>
      </p:sp>
      <p:pic>
        <p:nvPicPr>
          <p:cNvPr id="7" name="Picture 6" descr="17_cm_optimal_thresh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282" y="2870200"/>
            <a:ext cx="4572000" cy="32657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62179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86E64"/>
                </a:solidFill>
                <a:latin typeface="Georgia"/>
              </a:defRPr>
            </a:pPr>
            <a:r>
              <a:t>Confusion Matrix pada threshold optimal — deteksi lebih baik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0F1E37"/>
                </a:solidFill>
                <a:latin typeface="Georgia"/>
              </a:defRPr>
            </a:pPr>
            <a:r>
              <a:t>Faktor-Faktor Paling Berpengaruh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8100"/>
          </a:xfrm>
          <a:prstGeom prst="rect">
            <a:avLst/>
          </a:prstGeom>
          <a:solidFill>
            <a:srgbClr val="B7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5A412D"/>
                </a:solidFill>
                <a:latin typeface="Calibri"/>
              </a:defRPr>
            </a:pPr>
            <a:r>
              <a:t>Model menemukan 5 indikator utama risiko nasabah:</a:t>
            </a:r>
          </a:p>
          <a:p>
            <a:pPr>
              <a:spcAft>
                <a:spcPts val="1200"/>
              </a:spcAft>
              <a:defRPr sz="1600">
                <a:solidFill>
                  <a:srgbClr val="5A412D"/>
                </a:solidFill>
                <a:latin typeface="Calibri"/>
              </a:defRPr>
            </a:pPr>
            <a:r>
              <a:t>1. Term (Tenor Pinjaman) — tenor panjang umumnya memiliki risiko lebih tinggi.</a:t>
            </a:r>
          </a:p>
          <a:p>
            <a:pPr>
              <a:spcAft>
                <a:spcPts val="1200"/>
              </a:spcAft>
              <a:defRPr sz="1600">
                <a:solidFill>
                  <a:srgbClr val="5A412D"/>
                </a:solidFill>
                <a:latin typeface="Calibri"/>
              </a:defRPr>
            </a:pPr>
            <a:r>
              <a:t>2. Home Ownership (Status Kepemilikan Rumah) — pemilik rumah cenderung lebih stabil secara finansial.</a:t>
            </a:r>
          </a:p>
          <a:p>
            <a:pPr>
              <a:spcAft>
                <a:spcPts val="1200"/>
              </a:spcAft>
              <a:defRPr sz="1600">
                <a:solidFill>
                  <a:srgbClr val="5A412D"/>
                </a:solidFill>
                <a:latin typeface="Calibri"/>
              </a:defRPr>
            </a:pPr>
            <a:r>
              <a:t>3. Inq Last 6 Months (Jumlah Pengecekan Kredit) — semakin banyak pengecekan, semakin 'lapar' kredit nasabah.</a:t>
            </a:r>
          </a:p>
          <a:p>
            <a:pPr>
              <a:spcAft>
                <a:spcPts val="1200"/>
              </a:spcAft>
              <a:defRPr sz="1600">
                <a:solidFill>
                  <a:srgbClr val="5A412D"/>
                </a:solidFill>
                <a:latin typeface="Calibri"/>
              </a:defRPr>
            </a:pPr>
            <a:r>
              <a:t>4. Purpose (Tujuan Pinjaman) — tujuan tertentu memiliki risiko bawaan yang berbeda.</a:t>
            </a:r>
          </a:p>
          <a:p>
            <a:pPr>
              <a:spcAft>
                <a:spcPts val="1200"/>
              </a:spcAft>
              <a:defRPr sz="1600">
                <a:solidFill>
                  <a:srgbClr val="5A412D"/>
                </a:solidFill>
                <a:latin typeface="Calibri"/>
              </a:defRPr>
            </a:pPr>
            <a:r>
              <a:t>5. Grade (Rating Kredit Internal) — penilaian risiko awal dari sistem.</a:t>
            </a:r>
          </a:p>
        </p:txBody>
      </p:sp>
      <p:pic>
        <p:nvPicPr>
          <p:cNvPr id="5" name="Picture 4" descr="14_feature_importance_top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029200" cy="3352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61666" y="48158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86E64"/>
                </a:solidFill>
                <a:latin typeface="Georgia"/>
              </a:defRPr>
            </a:pPr>
            <a:r>
              <a:rPr dirty="0"/>
              <a:t>Top 20 </a:t>
            </a:r>
            <a:r>
              <a:rPr dirty="0" err="1"/>
              <a:t>fitur</a:t>
            </a:r>
            <a:r>
              <a:rPr dirty="0"/>
              <a:t>: </a:t>
            </a:r>
            <a:r>
              <a:rPr dirty="0" err="1"/>
              <a:t>tingkat</a:t>
            </a:r>
            <a:r>
              <a:rPr dirty="0"/>
              <a:t> </a:t>
            </a:r>
            <a:r>
              <a:rPr dirty="0" err="1"/>
              <a:t>pengaruh</a:t>
            </a:r>
            <a:r>
              <a:rPr dirty="0"/>
              <a:t> </a:t>
            </a:r>
            <a:r>
              <a:rPr dirty="0" err="1"/>
              <a:t>setiap</a:t>
            </a:r>
            <a:r>
              <a:rPr dirty="0"/>
              <a:t> </a:t>
            </a:r>
            <a:r>
              <a:rPr dirty="0" err="1"/>
              <a:t>informasi</a:t>
            </a:r>
            <a:r>
              <a:rPr dirty="0"/>
              <a:t> </a:t>
            </a:r>
            <a:r>
              <a:rPr dirty="0" err="1"/>
              <a:t>nasabah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0F1E37"/>
                </a:solidFill>
                <a:latin typeface="Georgia"/>
              </a:defRPr>
            </a:pPr>
            <a:r>
              <a:t>Kesimpulan &amp; Insight Bisnis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8100"/>
          </a:xfrm>
          <a:prstGeom prst="rect">
            <a:avLst/>
          </a:prstGeom>
          <a:solidFill>
            <a:srgbClr val="B7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19" y="1463040"/>
            <a:ext cx="10376747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600"/>
              </a:spcAft>
              <a:buFont typeface="Arial" panose="020B0604020202020204" pitchFamily="34" charset="0"/>
              <a:buChar char="•"/>
              <a:defRPr sz="1800">
                <a:solidFill>
                  <a:srgbClr val="5A412D"/>
                </a:solidFill>
                <a:latin typeface="Calibri"/>
              </a:defRPr>
            </a:pPr>
            <a:r>
              <a:rPr dirty="0"/>
              <a:t>Model </a:t>
            </a:r>
            <a:r>
              <a:rPr dirty="0" err="1"/>
              <a:t>XGBoost</a:t>
            </a:r>
            <a:r>
              <a:rPr dirty="0"/>
              <a:t> Tuned </a:t>
            </a:r>
            <a:r>
              <a:rPr dirty="0" err="1"/>
              <a:t>terbukti</a:t>
            </a:r>
            <a:r>
              <a:rPr dirty="0"/>
              <a:t> paling </a:t>
            </a:r>
            <a:r>
              <a:rPr dirty="0" err="1"/>
              <a:t>andal</a:t>
            </a:r>
            <a:r>
              <a:rPr dirty="0"/>
              <a:t> </a:t>
            </a:r>
            <a:r>
              <a:rPr dirty="0" err="1"/>
              <a:t>membedakan</a:t>
            </a:r>
            <a:r>
              <a:rPr dirty="0"/>
              <a:t> </a:t>
            </a:r>
            <a:r>
              <a:rPr dirty="0" err="1"/>
              <a:t>nasabah</a:t>
            </a:r>
            <a:r>
              <a:rPr dirty="0"/>
              <a:t> </a:t>
            </a:r>
            <a:r>
              <a:rPr dirty="0" err="1"/>
              <a:t>berisiko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nasabah</a:t>
            </a:r>
            <a:r>
              <a:rPr dirty="0"/>
              <a:t> </a:t>
            </a:r>
            <a:r>
              <a:rPr dirty="0" err="1"/>
              <a:t>aman</a:t>
            </a:r>
            <a:r>
              <a:rPr dirty="0"/>
              <a:t> (AUC </a:t>
            </a:r>
            <a:r>
              <a:rPr dirty="0" err="1"/>
              <a:t>tertinggi</a:t>
            </a:r>
            <a:r>
              <a:rPr dirty="0"/>
              <a:t>: 0.7007).</a:t>
            </a:r>
          </a:p>
          <a:p>
            <a:pPr marL="285750" indent="-285750">
              <a:spcAft>
                <a:spcPts val="1600"/>
              </a:spcAft>
              <a:buFont typeface="Arial" panose="020B0604020202020204" pitchFamily="34" charset="0"/>
              <a:buChar char="•"/>
              <a:defRPr sz="1800">
                <a:solidFill>
                  <a:srgbClr val="5A412D"/>
                </a:solidFill>
                <a:latin typeface="Calibri"/>
              </a:defRPr>
            </a:pP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siap</a:t>
            </a:r>
            <a:r>
              <a:rPr dirty="0"/>
              <a:t> </a:t>
            </a:r>
            <a:r>
              <a:rPr dirty="0" err="1"/>
              <a:t>menjadi</a:t>
            </a:r>
            <a:r>
              <a:rPr dirty="0"/>
              <a:t> '</a:t>
            </a:r>
            <a:r>
              <a:rPr dirty="0" err="1"/>
              <a:t>Asisten</a:t>
            </a:r>
            <a:r>
              <a:rPr dirty="0"/>
              <a:t> Digital' (Decision Support System) </a:t>
            </a:r>
            <a:r>
              <a:rPr dirty="0" err="1"/>
              <a:t>bagi</a:t>
            </a:r>
            <a:r>
              <a:rPr dirty="0"/>
              <a:t> </a:t>
            </a:r>
            <a:r>
              <a:rPr dirty="0" err="1"/>
              <a:t>analis</a:t>
            </a:r>
            <a:r>
              <a:rPr dirty="0"/>
              <a:t> </a:t>
            </a:r>
            <a:r>
              <a:rPr dirty="0" err="1"/>
              <a:t>kredit</a:t>
            </a:r>
            <a:r>
              <a:rPr dirty="0"/>
              <a:t> — </a:t>
            </a:r>
            <a:r>
              <a:rPr dirty="0" err="1"/>
              <a:t>bukan</a:t>
            </a:r>
            <a:r>
              <a:rPr dirty="0"/>
              <a:t> </a:t>
            </a:r>
            <a:r>
              <a:rPr dirty="0" err="1"/>
              <a:t>menggantikan</a:t>
            </a:r>
            <a:r>
              <a:rPr dirty="0"/>
              <a:t>, </a:t>
            </a:r>
            <a:r>
              <a:rPr dirty="0" err="1"/>
              <a:t>tapi</a:t>
            </a:r>
            <a:r>
              <a:rPr dirty="0"/>
              <a:t> </a:t>
            </a:r>
            <a:r>
              <a:rPr dirty="0" err="1"/>
              <a:t>membantu</a:t>
            </a:r>
            <a:r>
              <a:rPr dirty="0"/>
              <a:t> </a:t>
            </a:r>
            <a:r>
              <a:rPr dirty="0" err="1"/>
              <a:t>keputusan</a:t>
            </a:r>
            <a:r>
              <a:rPr dirty="0"/>
              <a:t>.</a:t>
            </a:r>
          </a:p>
          <a:p>
            <a:pPr marL="285750" indent="-285750">
              <a:spcAft>
                <a:spcPts val="1600"/>
              </a:spcAft>
              <a:buFont typeface="Arial" panose="020B0604020202020204" pitchFamily="34" charset="0"/>
              <a:buChar char="•"/>
              <a:defRPr sz="1800">
                <a:solidFill>
                  <a:srgbClr val="5A412D"/>
                </a:solidFill>
                <a:latin typeface="Calibri"/>
              </a:defRPr>
            </a:pPr>
            <a:r>
              <a:rPr dirty="0" err="1"/>
              <a:t>Nasabah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tenor </a:t>
            </a:r>
            <a:r>
              <a:rPr dirty="0" err="1"/>
              <a:t>panjang</a:t>
            </a:r>
            <a:r>
              <a:rPr dirty="0"/>
              <a:t>, </a:t>
            </a:r>
            <a:r>
              <a:rPr dirty="0" err="1"/>
              <a:t>banyak</a:t>
            </a:r>
            <a:r>
              <a:rPr dirty="0"/>
              <a:t> </a:t>
            </a:r>
            <a:r>
              <a:rPr dirty="0" err="1"/>
              <a:t>pengecekan</a:t>
            </a:r>
            <a:r>
              <a:rPr dirty="0"/>
              <a:t> </a:t>
            </a:r>
            <a:r>
              <a:rPr dirty="0" err="1"/>
              <a:t>kredit</a:t>
            </a:r>
            <a:r>
              <a:rPr dirty="0"/>
              <a:t>, dan </a:t>
            </a:r>
            <a:r>
              <a:rPr dirty="0" err="1"/>
              <a:t>tanpa</a:t>
            </a:r>
            <a:r>
              <a:rPr dirty="0"/>
              <a:t> </a:t>
            </a:r>
            <a:r>
              <a:rPr dirty="0" err="1"/>
              <a:t>kepemilikan</a:t>
            </a:r>
            <a:r>
              <a:rPr dirty="0"/>
              <a:t> </a:t>
            </a:r>
            <a:r>
              <a:rPr dirty="0" err="1"/>
              <a:t>rumah</a:t>
            </a:r>
            <a:r>
              <a:rPr dirty="0"/>
              <a:t> </a:t>
            </a:r>
            <a:r>
              <a:rPr dirty="0" err="1"/>
              <a:t>memerlukan</a:t>
            </a:r>
            <a:r>
              <a:rPr dirty="0"/>
              <a:t> </a:t>
            </a:r>
            <a:r>
              <a:rPr dirty="0" err="1"/>
              <a:t>pengawasan</a:t>
            </a:r>
            <a:r>
              <a:rPr dirty="0"/>
              <a:t> </a:t>
            </a:r>
            <a:r>
              <a:rPr dirty="0" err="1"/>
              <a:t>lebih</a:t>
            </a:r>
            <a:r>
              <a:rPr dirty="0"/>
              <a:t> </a:t>
            </a:r>
            <a:r>
              <a:rPr dirty="0" err="1"/>
              <a:t>ketat</a:t>
            </a:r>
            <a:r>
              <a:rPr dirty="0"/>
              <a:t>.</a:t>
            </a:r>
          </a:p>
          <a:p>
            <a:pPr marL="285750" indent="-285750">
              <a:spcAft>
                <a:spcPts val="1600"/>
              </a:spcAft>
              <a:buFont typeface="Arial" panose="020B0604020202020204" pitchFamily="34" charset="0"/>
              <a:buChar char="•"/>
              <a:defRPr sz="1800">
                <a:solidFill>
                  <a:srgbClr val="5A412D"/>
                </a:solidFill>
                <a:latin typeface="Calibri"/>
              </a:defRPr>
            </a:pPr>
            <a:r>
              <a:rPr dirty="0" err="1"/>
              <a:t>Optimasi</a:t>
            </a:r>
            <a:r>
              <a:rPr dirty="0"/>
              <a:t> threshold </a:t>
            </a:r>
            <a:r>
              <a:rPr dirty="0" err="1"/>
              <a:t>memungkinkan</a:t>
            </a:r>
            <a:r>
              <a:rPr dirty="0"/>
              <a:t> </a:t>
            </a:r>
            <a:r>
              <a:rPr dirty="0" err="1"/>
              <a:t>perusahaan</a:t>
            </a:r>
            <a:r>
              <a:rPr dirty="0"/>
              <a:t> </a:t>
            </a:r>
            <a:r>
              <a:rPr dirty="0" err="1"/>
              <a:t>menyesuaikan</a:t>
            </a:r>
            <a:r>
              <a:rPr dirty="0"/>
              <a:t> </a:t>
            </a:r>
            <a:r>
              <a:rPr dirty="0" err="1"/>
              <a:t>tingkat</a:t>
            </a:r>
            <a:r>
              <a:rPr dirty="0"/>
              <a:t> </a:t>
            </a:r>
            <a:r>
              <a:rPr dirty="0" err="1"/>
              <a:t>toleransi</a:t>
            </a:r>
            <a:r>
              <a:rPr dirty="0"/>
              <a:t> </a:t>
            </a:r>
            <a:r>
              <a:rPr dirty="0" err="1"/>
              <a:t>risiko</a:t>
            </a:r>
            <a:r>
              <a:rPr dirty="0"/>
              <a:t> </a:t>
            </a:r>
            <a:r>
              <a:rPr dirty="0" err="1"/>
              <a:t>sesuai</a:t>
            </a:r>
            <a:r>
              <a:rPr dirty="0"/>
              <a:t> </a:t>
            </a:r>
            <a:r>
              <a:rPr dirty="0" err="1"/>
              <a:t>kebijakan</a:t>
            </a:r>
            <a:r>
              <a:rPr dirty="0"/>
              <a:t> </a:t>
            </a:r>
            <a:r>
              <a:rPr dirty="0" err="1"/>
              <a:t>bisnis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0F1E37"/>
                </a:solidFill>
                <a:latin typeface="Georgia"/>
              </a:defRPr>
            </a:pPr>
            <a:r>
              <a:t>Rekomendasi &amp; Langkah Selanjutnya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8100"/>
          </a:xfrm>
          <a:prstGeom prst="rect">
            <a:avLst/>
          </a:prstGeom>
          <a:solidFill>
            <a:srgbClr val="B7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21588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600"/>
              </a:spcAft>
              <a:buFont typeface="Arial" panose="020B0604020202020204" pitchFamily="34" charset="0"/>
              <a:buChar char="•"/>
              <a:defRPr sz="1800">
                <a:solidFill>
                  <a:srgbClr val="5A412D"/>
                </a:solidFill>
                <a:latin typeface="Calibri"/>
              </a:defRPr>
            </a:pPr>
            <a:r>
              <a:rPr b="1" dirty="0"/>
              <a:t>Deployment</a:t>
            </a:r>
            <a:r>
              <a:rPr dirty="0"/>
              <a:t>: </a:t>
            </a:r>
            <a:r>
              <a:rPr dirty="0" err="1"/>
              <a:t>Integrasikan</a:t>
            </a:r>
            <a:r>
              <a:rPr dirty="0"/>
              <a:t> model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dalam</a:t>
            </a:r>
            <a:r>
              <a:rPr dirty="0"/>
              <a:t> </a:t>
            </a:r>
            <a:r>
              <a:rPr dirty="0" err="1"/>
              <a:t>sistem</a:t>
            </a:r>
            <a:r>
              <a:rPr dirty="0"/>
              <a:t> internal </a:t>
            </a:r>
            <a:r>
              <a:rPr dirty="0" err="1"/>
              <a:t>perusahaan</a:t>
            </a:r>
            <a:r>
              <a:rPr dirty="0"/>
              <a:t> </a:t>
            </a:r>
            <a:r>
              <a:rPr dirty="0" err="1"/>
              <a:t>sebagai</a:t>
            </a:r>
            <a:r>
              <a:rPr dirty="0"/>
              <a:t> second opinion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analis</a:t>
            </a:r>
            <a:r>
              <a:rPr dirty="0"/>
              <a:t> </a:t>
            </a:r>
            <a:r>
              <a:rPr dirty="0" err="1"/>
              <a:t>kredit</a:t>
            </a:r>
            <a:r>
              <a:rPr dirty="0"/>
              <a:t>.</a:t>
            </a:r>
          </a:p>
          <a:p>
            <a:pPr marL="285750" indent="-285750">
              <a:spcAft>
                <a:spcPts val="1600"/>
              </a:spcAft>
              <a:buFont typeface="Arial" panose="020B0604020202020204" pitchFamily="34" charset="0"/>
              <a:buChar char="•"/>
              <a:defRPr sz="1800">
                <a:solidFill>
                  <a:srgbClr val="5A412D"/>
                </a:solidFill>
                <a:latin typeface="Calibri"/>
              </a:defRPr>
            </a:pPr>
            <a:r>
              <a:rPr b="1" dirty="0"/>
              <a:t>Monitoring:</a:t>
            </a:r>
            <a:r>
              <a:rPr dirty="0"/>
              <a:t> </a:t>
            </a:r>
            <a:r>
              <a:rPr dirty="0" err="1"/>
              <a:t>Pantau</a:t>
            </a:r>
            <a:r>
              <a:rPr dirty="0"/>
              <a:t> </a:t>
            </a:r>
            <a:r>
              <a:rPr dirty="0" err="1"/>
              <a:t>performa</a:t>
            </a:r>
            <a:r>
              <a:rPr dirty="0"/>
              <a:t> model </a:t>
            </a:r>
            <a:r>
              <a:rPr dirty="0" err="1"/>
              <a:t>secara</a:t>
            </a:r>
            <a:r>
              <a:rPr dirty="0"/>
              <a:t> </a:t>
            </a:r>
            <a:r>
              <a:rPr dirty="0" err="1"/>
              <a:t>berkala</a:t>
            </a:r>
            <a:r>
              <a:rPr dirty="0"/>
              <a:t> (</a:t>
            </a:r>
            <a:r>
              <a:rPr dirty="0" err="1"/>
              <a:t>bulanan</a:t>
            </a:r>
            <a:r>
              <a:rPr dirty="0"/>
              <a:t>). </a:t>
            </a:r>
            <a:r>
              <a:rPr dirty="0" err="1"/>
              <a:t>Apakah</a:t>
            </a:r>
            <a:r>
              <a:rPr dirty="0"/>
              <a:t> </a:t>
            </a:r>
            <a:r>
              <a:rPr dirty="0" err="1"/>
              <a:t>pola</a:t>
            </a:r>
            <a:r>
              <a:rPr dirty="0"/>
              <a:t> </a:t>
            </a:r>
            <a:r>
              <a:rPr dirty="0" err="1"/>
              <a:t>nasabah</a:t>
            </a:r>
            <a:r>
              <a:rPr dirty="0"/>
              <a:t> </a:t>
            </a:r>
            <a:r>
              <a:rPr dirty="0" err="1"/>
              <a:t>berubah</a:t>
            </a:r>
            <a:r>
              <a:rPr dirty="0"/>
              <a:t> </a:t>
            </a:r>
            <a:r>
              <a:rPr dirty="0" err="1"/>
              <a:t>seiring</a:t>
            </a:r>
            <a:r>
              <a:rPr dirty="0"/>
              <a:t> </a:t>
            </a:r>
            <a:r>
              <a:rPr dirty="0" err="1"/>
              <a:t>waktu</a:t>
            </a:r>
            <a:r>
              <a:rPr dirty="0"/>
              <a:t>?</a:t>
            </a:r>
          </a:p>
          <a:p>
            <a:pPr marL="285750" indent="-285750">
              <a:spcAft>
                <a:spcPts val="1600"/>
              </a:spcAft>
              <a:buFont typeface="Arial" panose="020B0604020202020204" pitchFamily="34" charset="0"/>
              <a:buChar char="•"/>
              <a:defRPr sz="1800">
                <a:solidFill>
                  <a:srgbClr val="5A412D"/>
                </a:solidFill>
                <a:latin typeface="Calibri"/>
              </a:defRPr>
            </a:pPr>
            <a:r>
              <a:rPr b="1" dirty="0"/>
              <a:t>Continuous Improvement:</a:t>
            </a:r>
            <a:r>
              <a:rPr dirty="0"/>
              <a:t> </a:t>
            </a:r>
            <a:r>
              <a:rPr dirty="0" err="1"/>
              <a:t>Latih</a:t>
            </a:r>
            <a:r>
              <a:rPr dirty="0"/>
              <a:t> </a:t>
            </a:r>
            <a:r>
              <a:rPr dirty="0" err="1"/>
              <a:t>ulang</a:t>
            </a:r>
            <a:r>
              <a:rPr dirty="0"/>
              <a:t> model </a:t>
            </a:r>
            <a:r>
              <a:rPr dirty="0" err="1"/>
              <a:t>dengan</a:t>
            </a:r>
            <a:r>
              <a:rPr dirty="0"/>
              <a:t> data </a:t>
            </a:r>
            <a:r>
              <a:rPr dirty="0" err="1"/>
              <a:t>terbaru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menjaga</a:t>
            </a:r>
            <a:r>
              <a:rPr dirty="0"/>
              <a:t> </a:t>
            </a:r>
            <a:r>
              <a:rPr dirty="0" err="1"/>
              <a:t>akurasi</a:t>
            </a:r>
            <a:r>
              <a:rPr dirty="0"/>
              <a:t>.</a:t>
            </a:r>
          </a:p>
          <a:p>
            <a:pPr marL="285750" indent="-285750">
              <a:spcAft>
                <a:spcPts val="1600"/>
              </a:spcAft>
              <a:buFont typeface="Arial" panose="020B0604020202020204" pitchFamily="34" charset="0"/>
              <a:buChar char="•"/>
              <a:defRPr sz="1800">
                <a:solidFill>
                  <a:srgbClr val="5A412D"/>
                </a:solidFill>
                <a:latin typeface="Calibri"/>
              </a:defRPr>
            </a:pPr>
            <a:r>
              <a:rPr b="1" dirty="0" err="1"/>
              <a:t>Pemanfaatan</a:t>
            </a:r>
            <a:r>
              <a:rPr b="1" dirty="0"/>
              <a:t>: </a:t>
            </a:r>
            <a:r>
              <a:rPr dirty="0" err="1"/>
              <a:t>Gunakan</a:t>
            </a:r>
            <a:r>
              <a:rPr dirty="0"/>
              <a:t> 'Skor </a:t>
            </a:r>
            <a:r>
              <a:rPr dirty="0" err="1"/>
              <a:t>Risiko</a:t>
            </a:r>
            <a:r>
              <a:rPr dirty="0"/>
              <a:t>' </a:t>
            </a:r>
            <a:r>
              <a:rPr dirty="0" err="1"/>
              <a:t>dari</a:t>
            </a:r>
            <a:r>
              <a:rPr dirty="0"/>
              <a:t> model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menetapkan</a:t>
            </a:r>
            <a:r>
              <a:rPr dirty="0"/>
              <a:t> limit </a:t>
            </a:r>
            <a:r>
              <a:rPr dirty="0" err="1"/>
              <a:t>pinjaman</a:t>
            </a:r>
            <a:r>
              <a:rPr dirty="0"/>
              <a:t> dan </a:t>
            </a:r>
            <a:r>
              <a:rPr dirty="0" err="1"/>
              <a:t>suku</a:t>
            </a:r>
            <a:r>
              <a:rPr dirty="0"/>
              <a:t> </a:t>
            </a:r>
            <a:r>
              <a:rPr dirty="0" err="1"/>
              <a:t>bunga</a:t>
            </a:r>
            <a:r>
              <a:rPr dirty="0"/>
              <a:t> </a:t>
            </a:r>
            <a:r>
              <a:rPr dirty="0" err="1"/>
              <a:t>secara</a:t>
            </a:r>
            <a:r>
              <a:rPr dirty="0"/>
              <a:t> </a:t>
            </a:r>
            <a:r>
              <a:rPr dirty="0" err="1"/>
              <a:t>dinamis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286000"/>
            <a:ext cx="4572000" cy="38100"/>
          </a:xfrm>
          <a:prstGeom prst="rect">
            <a:avLst/>
          </a:prstGeom>
          <a:solidFill>
            <a:srgbClr val="B7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 i="0">
                <a:solidFill>
                  <a:srgbClr val="FFFFFF"/>
                </a:solidFill>
                <a:latin typeface="Georgia"/>
              </a:defRPr>
            </a:pPr>
            <a: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 i="0">
                <a:solidFill>
                  <a:srgbClr val="B79650"/>
                </a:solidFill>
                <a:latin typeface="Calibri"/>
              </a:defRPr>
            </a:pPr>
            <a:r>
              <a:t>Ada Pertanyaan?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 i="0">
                <a:solidFill>
                  <a:srgbClr val="DCC896"/>
                </a:solidFill>
                <a:latin typeface="Calibri"/>
              </a:defRPr>
            </a:pPr>
            <a:r>
              <a:t>Muhammad Syafii Assubki  ·  VIX IDX Partners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669280"/>
            <a:ext cx="4572000" cy="38100"/>
          </a:xfrm>
          <a:prstGeom prst="rect">
            <a:avLst/>
          </a:prstGeom>
          <a:solidFill>
            <a:srgbClr val="B7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986</Words>
  <Application>Microsoft Office PowerPoint</Application>
  <PresentationFormat>Widescreen</PresentationFormat>
  <Paragraphs>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Syafii Assubki</cp:lastModifiedBy>
  <cp:revision>2</cp:revision>
  <dcterms:created xsi:type="dcterms:W3CDTF">2013-01-27T09:14:16Z</dcterms:created>
  <dcterms:modified xsi:type="dcterms:W3CDTF">2026-05-21T12:36:25Z</dcterms:modified>
  <cp:category/>
</cp:coreProperties>
</file>