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371600"/>
          </a:xfrm>
          <a:prstGeom prst="rect">
            <a:avLst/>
          </a:prstGeom>
          <a:noFill/>
        </p:spPr>
        <p:txBody>
          <a:bodyPr wrap="square">
            <a:spAutoFit/>
          </a:bodyPr>
          <a:lstStyle/>
          <a:p>
            <a:pPr algn="ctr">
              <a:defRPr sz="4800" b="1">
                <a:solidFill>
                  <a:srgbClr val="FFFFFF"/>
                </a:solidFill>
              </a:defRPr>
            </a:pPr>
            <a:r>
              <a:t>Credit Risk Prediction</a:t>
            </a:r>
          </a:p>
        </p:txBody>
      </p:sp>
      <p:sp>
        <p:nvSpPr>
          <p:cNvPr id="4" name="TextBox 3"/>
          <p:cNvSpPr txBox="1"/>
          <p:nvPr/>
        </p:nvSpPr>
        <p:spPr>
          <a:xfrm>
            <a:off x="914400" y="3017520"/>
            <a:ext cx="10058400" cy="731520"/>
          </a:xfrm>
          <a:prstGeom prst="rect">
            <a:avLst/>
          </a:prstGeom>
          <a:noFill/>
        </p:spPr>
        <p:txBody>
          <a:bodyPr wrap="square">
            <a:spAutoFit/>
          </a:bodyPr>
          <a:lstStyle/>
          <a:p>
            <a:pPr algn="ctr">
              <a:defRPr sz="2400" b="0">
                <a:solidFill>
                  <a:srgbClr val="0096C7"/>
                </a:solidFill>
              </a:defRPr>
            </a:pPr>
            <a:r>
              <a:t>Machine Learning Pipeline untuk Meminimalisir Risiko Gagal Bayar</a:t>
            </a:r>
          </a:p>
        </p:txBody>
      </p:sp>
      <p:sp>
        <p:nvSpPr>
          <p:cNvPr id="5" name="Rounded Rectangle 4"/>
          <p:cNvSpPr/>
          <p:nvPr/>
        </p:nvSpPr>
        <p:spPr>
          <a:xfrm>
            <a:off x="5029200" y="3931920"/>
            <a:ext cx="2103120" cy="36576"/>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72000"/>
            <a:ext cx="10058400" cy="548640"/>
          </a:xfrm>
          <a:prstGeom prst="rect">
            <a:avLst/>
          </a:prstGeom>
          <a:noFill/>
        </p:spPr>
        <p:txBody>
          <a:bodyPr wrap="square">
            <a:spAutoFit/>
          </a:bodyPr>
          <a:lstStyle/>
          <a:p>
            <a:pPr algn="ctr">
              <a:defRPr sz="2000" b="1">
                <a:solidFill>
                  <a:srgbClr val="FFFFFF"/>
                </a:solidFill>
              </a:defRPr>
            </a:pPr>
            <a:r>
              <a:t>Muhammad Syafii Assubki</a:t>
            </a:r>
          </a:p>
        </p:txBody>
      </p:sp>
      <p:sp>
        <p:nvSpPr>
          <p:cNvPr id="7" name="TextBox 6"/>
          <p:cNvSpPr txBox="1"/>
          <p:nvPr/>
        </p:nvSpPr>
        <p:spPr>
          <a:xfrm>
            <a:off x="914400" y="5120640"/>
            <a:ext cx="10058400" cy="548640"/>
          </a:xfrm>
          <a:prstGeom prst="rect">
            <a:avLst/>
          </a:prstGeom>
          <a:noFill/>
        </p:spPr>
        <p:txBody>
          <a:bodyPr wrap="square">
            <a:spAutoFit/>
          </a:bodyPr>
          <a:lstStyle/>
          <a:p>
            <a:pPr algn="ctr">
              <a:defRPr sz="1600" b="0">
                <a:solidFill>
                  <a:srgbClr val="999999"/>
                </a:solidFill>
              </a:defRPr>
            </a:pPr>
            <a:r>
              <a:t>Data Scientist Intern | VIX IDX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6400800" cy="731520"/>
          </a:xfrm>
          <a:prstGeom prst="rect">
            <a:avLst/>
          </a:prstGeom>
          <a:noFill/>
        </p:spPr>
        <p:txBody>
          <a:bodyPr wrap="square">
            <a:spAutoFit/>
          </a:bodyPr>
          <a:lstStyle/>
          <a:p>
            <a:pPr algn="l">
              <a:defRPr sz="3600" b="1">
                <a:solidFill>
                  <a:srgbClr val="0096C7"/>
                </a:solidFill>
              </a:defRPr>
            </a:pPr>
            <a:r>
              <a:t>Business Understanding</a:t>
            </a:r>
          </a:p>
        </p:txBody>
      </p:sp>
      <p:sp>
        <p:nvSpPr>
          <p:cNvPr id="4" name="Rounded Rectangle 3"/>
          <p:cNvSpPr/>
          <p:nvPr/>
        </p:nvSpPr>
        <p:spPr>
          <a:xfrm>
            <a:off x="731520" y="1463040"/>
            <a:ext cx="5029200" cy="22860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457200"/>
          </a:xfrm>
          <a:prstGeom prst="rect">
            <a:avLst/>
          </a:prstGeom>
          <a:noFill/>
        </p:spPr>
        <p:txBody>
          <a:bodyPr wrap="square">
            <a:spAutoFit/>
          </a:bodyPr>
          <a:lstStyle/>
          <a:p>
            <a:pPr algn="l">
              <a:defRPr sz="2000" b="1">
                <a:solidFill>
                  <a:srgbClr val="E67E22"/>
                </a:solidFill>
              </a:defRPr>
            </a:pPr>
            <a:r>
              <a:t>Problem Statement</a:t>
            </a:r>
          </a:p>
        </p:txBody>
      </p:sp>
      <p:sp>
        <p:nvSpPr>
          <p:cNvPr id="6" name="TextBox 5"/>
          <p:cNvSpPr txBox="1"/>
          <p:nvPr/>
        </p:nvSpPr>
        <p:spPr>
          <a:xfrm>
            <a:off x="1005840" y="2103120"/>
            <a:ext cx="4572000" cy="1371600"/>
          </a:xfrm>
          <a:prstGeom prst="rect">
            <a:avLst/>
          </a:prstGeom>
          <a:noFill/>
        </p:spPr>
        <p:txBody>
          <a:bodyPr wrap="square">
            <a:spAutoFit/>
          </a:bodyPr>
          <a:lstStyle/>
          <a:p>
            <a:pPr algn="l">
              <a:defRPr sz="1400" b="0">
                <a:solidFill>
                  <a:srgbClr val="FFFFFF"/>
                </a:solidFill>
              </a:defRPr>
            </a:pPr>
            <a:r>
              <a:t>Lending company seringkali menghadapi risiko kerugian finansial yang signifikan akibat peminjam yang gagal bayar (default). Mengandalkan insting atau aturan statis tidak lagi cukup untuk menyaring calon peminjam secara akurat.</a:t>
            </a:r>
          </a:p>
        </p:txBody>
      </p:sp>
      <p:sp>
        <p:nvSpPr>
          <p:cNvPr id="7" name="Rounded Rectangle 6"/>
          <p:cNvSpPr/>
          <p:nvPr/>
        </p:nvSpPr>
        <p:spPr>
          <a:xfrm>
            <a:off x="6400800" y="1463040"/>
            <a:ext cx="5029200" cy="22860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554480"/>
            <a:ext cx="4572000" cy="457200"/>
          </a:xfrm>
          <a:prstGeom prst="rect">
            <a:avLst/>
          </a:prstGeom>
          <a:noFill/>
        </p:spPr>
        <p:txBody>
          <a:bodyPr wrap="square">
            <a:spAutoFit/>
          </a:bodyPr>
          <a:lstStyle/>
          <a:p>
            <a:pPr algn="l">
              <a:defRPr sz="2000" b="1">
                <a:solidFill>
                  <a:srgbClr val="2ECC71"/>
                </a:solidFill>
              </a:defRPr>
            </a:pPr>
            <a:r>
              <a:t>Tujuan Project</a:t>
            </a:r>
          </a:p>
        </p:txBody>
      </p:sp>
      <p:sp>
        <p:nvSpPr>
          <p:cNvPr id="9" name="TextBox 8"/>
          <p:cNvSpPr txBox="1"/>
          <p:nvPr/>
        </p:nvSpPr>
        <p:spPr>
          <a:xfrm>
            <a:off x="6675120" y="2103120"/>
            <a:ext cx="4572000" cy="1371600"/>
          </a:xfrm>
          <a:prstGeom prst="rect">
            <a:avLst/>
          </a:prstGeom>
          <a:noFill/>
        </p:spPr>
        <p:txBody>
          <a:bodyPr wrap="square">
            <a:spAutoFit/>
          </a:bodyPr>
          <a:lstStyle/>
          <a:p>
            <a:pPr algn="l">
              <a:defRPr sz="1400" b="0">
                <a:solidFill>
                  <a:srgbClr val="FFFFFF"/>
                </a:solidFill>
              </a:defRPr>
            </a:pPr>
            <a:r>
              <a:t>Membangun model Machine Learning yang mampu memprediksi probabilitas gagal bayar dari seorang calon peminjam secara otomatis sebelum pinjaman tersebut disetujui.</a:t>
            </a:r>
          </a:p>
        </p:txBody>
      </p:sp>
      <p:sp>
        <p:nvSpPr>
          <p:cNvPr id="10" name="Rounded Rectangle 9"/>
          <p:cNvSpPr/>
          <p:nvPr/>
        </p:nvSpPr>
        <p:spPr>
          <a:xfrm>
            <a:off x="731520" y="4114800"/>
            <a:ext cx="10698480" cy="210312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06240"/>
            <a:ext cx="4572000" cy="457200"/>
          </a:xfrm>
          <a:prstGeom prst="rect">
            <a:avLst/>
          </a:prstGeom>
          <a:noFill/>
        </p:spPr>
        <p:txBody>
          <a:bodyPr wrap="square">
            <a:spAutoFit/>
          </a:bodyPr>
          <a:lstStyle/>
          <a:p>
            <a:pPr algn="l">
              <a:defRPr sz="2000" b="1">
                <a:solidFill>
                  <a:srgbClr val="0096C7"/>
                </a:solidFill>
              </a:defRPr>
            </a:pPr>
            <a:r>
              <a:t>Manfaat bagi Bisnis</a:t>
            </a:r>
          </a:p>
        </p:txBody>
      </p:sp>
      <p:sp>
        <p:nvSpPr>
          <p:cNvPr id="12" name="TextBox 11"/>
          <p:cNvSpPr txBox="1"/>
          <p:nvPr/>
        </p:nvSpPr>
        <p:spPr>
          <a:xfrm>
            <a:off x="1005840" y="4754880"/>
            <a:ext cx="9144000" cy="1371600"/>
          </a:xfrm>
          <a:prstGeom prst="rect">
            <a:avLst/>
          </a:prstGeom>
          <a:noFill/>
        </p:spPr>
        <p:txBody>
          <a:bodyPr wrap="square">
            <a:spAutoFit/>
          </a:bodyPr>
          <a:lstStyle/>
          <a:p>
            <a:pPr algn="l">
              <a:defRPr sz="1400" b="0">
                <a:solidFill>
                  <a:srgbClr val="FFFFFF"/>
                </a:solidFill>
              </a:defRPr>
            </a:pPr>
            <a:r>
              <a:t>• Mengurangi Kerugian Finansial: Mencegah persetujuan pinjaman kepada profil berisiko tinggi.</a:t>
            </a:r>
            <a:br/>
            <a:r>
              <a:t>• Efisiensi Operasional: Mempercepat proses credit scoring dengan otomatisasi.</a:t>
            </a:r>
            <a:br/>
            <a:r>
              <a:t>• Peningkatan Profitabilitas: Memaksimalkan persetujuan pada peminjam yang berkualitas (good loan).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731520"/>
          </a:xfrm>
          <a:prstGeom prst="rect">
            <a:avLst/>
          </a:prstGeom>
          <a:noFill/>
        </p:spPr>
        <p:txBody>
          <a:bodyPr wrap="square">
            <a:spAutoFit/>
          </a:bodyPr>
          <a:lstStyle/>
          <a:p>
            <a:pPr algn="l">
              <a:defRPr sz="3600" b="1">
                <a:solidFill>
                  <a:srgbClr val="0096C7"/>
                </a:solidFill>
              </a:defRPr>
            </a:pPr>
            <a:r>
              <a:t>Data Overview &amp; Insight</a:t>
            </a:r>
          </a:p>
        </p:txBody>
      </p:sp>
      <p:sp>
        <p:nvSpPr>
          <p:cNvPr id="4" name="Rounded Rectangle 3"/>
          <p:cNvSpPr/>
          <p:nvPr/>
        </p:nvSpPr>
        <p:spPr>
          <a:xfrm>
            <a:off x="731520" y="1371600"/>
            <a:ext cx="3200400" cy="22860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63040"/>
            <a:ext cx="2743200" cy="457200"/>
          </a:xfrm>
          <a:prstGeom prst="rect">
            <a:avLst/>
          </a:prstGeom>
          <a:noFill/>
        </p:spPr>
        <p:txBody>
          <a:bodyPr wrap="square">
            <a:spAutoFit/>
          </a:bodyPr>
          <a:lstStyle/>
          <a:p>
            <a:pPr algn="l">
              <a:defRPr sz="2000" b="1">
                <a:solidFill>
                  <a:srgbClr val="E67E22"/>
                </a:solidFill>
              </a:defRPr>
            </a:pPr>
            <a:r>
              <a:t>Profil Data</a:t>
            </a:r>
          </a:p>
        </p:txBody>
      </p:sp>
      <p:sp>
        <p:nvSpPr>
          <p:cNvPr id="6" name="TextBox 5"/>
          <p:cNvSpPr txBox="1"/>
          <p:nvPr/>
        </p:nvSpPr>
        <p:spPr>
          <a:xfrm>
            <a:off x="1005840" y="2011680"/>
            <a:ext cx="2926080" cy="1371600"/>
          </a:xfrm>
          <a:prstGeom prst="rect">
            <a:avLst/>
          </a:prstGeom>
          <a:noFill/>
        </p:spPr>
        <p:txBody>
          <a:bodyPr wrap="square">
            <a:spAutoFit/>
          </a:bodyPr>
          <a:lstStyle/>
          <a:p>
            <a:pPr algn="l">
              <a:defRPr sz="1400" b="0">
                <a:solidFill>
                  <a:srgbClr val="FFFFFF"/>
                </a:solidFill>
              </a:defRPr>
            </a:pPr>
            <a:r>
              <a:t>• Volume Data: 466.285 riwayat pinjaman</a:t>
            </a:r>
            <a:br/>
            <a:r>
              <a:t>• Variabel: 74 fitur historis</a:t>
            </a:r>
            <a:br/>
            <a:r>
              <a:t>• Proporsi: 81% Lancar (Good) vs 19% Gagal Bayar (Bad)</a:t>
            </a:r>
          </a:p>
        </p:txBody>
      </p:sp>
      <p:sp>
        <p:nvSpPr>
          <p:cNvPr id="7" name="Rounded Rectangle 6"/>
          <p:cNvSpPr/>
          <p:nvPr/>
        </p:nvSpPr>
        <p:spPr>
          <a:xfrm>
            <a:off x="4114800" y="1371600"/>
            <a:ext cx="7315200" cy="22860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463040"/>
            <a:ext cx="6400800" cy="457200"/>
          </a:xfrm>
          <a:prstGeom prst="rect">
            <a:avLst/>
          </a:prstGeom>
          <a:noFill/>
        </p:spPr>
        <p:txBody>
          <a:bodyPr wrap="square">
            <a:spAutoFit/>
          </a:bodyPr>
          <a:lstStyle/>
          <a:p>
            <a:pPr algn="l">
              <a:defRPr sz="2000" b="1">
                <a:solidFill>
                  <a:srgbClr val="2ECC71"/>
                </a:solidFill>
              </a:defRPr>
            </a:pPr>
            <a:r>
              <a:t>Top 3 Insight (EDA)</a:t>
            </a:r>
          </a:p>
        </p:txBody>
      </p:sp>
      <p:sp>
        <p:nvSpPr>
          <p:cNvPr id="9" name="TextBox 8"/>
          <p:cNvSpPr txBox="1"/>
          <p:nvPr/>
        </p:nvSpPr>
        <p:spPr>
          <a:xfrm>
            <a:off x="4389120" y="2011680"/>
            <a:ext cx="6858000" cy="1371600"/>
          </a:xfrm>
          <a:prstGeom prst="rect">
            <a:avLst/>
          </a:prstGeom>
          <a:noFill/>
        </p:spPr>
        <p:txBody>
          <a:bodyPr wrap="square">
            <a:spAutoFit/>
          </a:bodyPr>
          <a:lstStyle/>
          <a:p>
            <a:pPr algn="l">
              <a:defRPr sz="1400" b="0">
                <a:solidFill>
                  <a:srgbClr val="FFFFFF"/>
                </a:solidFill>
              </a:defRPr>
            </a:pPr>
            <a:r>
              <a:t>1. Rating Internal Valid: Penilaian grade/sub_grade sejalan dengan rasio gagal bayar di lapangan.</a:t>
            </a:r>
            <a:br/>
            <a:r>
              <a:t>2. Durasi &amp; Risiko: Pinjaman tenor 60 bulan memiliki tingkat default lebih tinggi dibanding 36 bulan.</a:t>
            </a:r>
            <a:br/>
            <a:r>
              <a:t>3. Beban Utang: Semakin besar rasio cicilan terhadap pendapatan bulanan, probabilitas default meningkat drastis.</a:t>
            </a:r>
          </a:p>
        </p:txBody>
      </p:sp>
      <p:pic>
        <p:nvPicPr>
          <p:cNvPr id="10" name="Picture 9" descr="01_target_distribution.png"/>
          <p:cNvPicPr>
            <a:picLocks noChangeAspect="1"/>
          </p:cNvPicPr>
          <p:nvPr/>
        </p:nvPicPr>
        <p:blipFill>
          <a:blip r:embed="rId2"/>
          <a:stretch>
            <a:fillRect/>
          </a:stretch>
        </p:blipFill>
        <p:spPr>
          <a:xfrm>
            <a:off x="1371600" y="3840480"/>
            <a:ext cx="4114800" cy="2286000"/>
          </a:xfrm>
          <a:prstGeom prst="rect">
            <a:avLst/>
          </a:prstGeom>
        </p:spPr>
      </p:pic>
      <p:pic>
        <p:nvPicPr>
          <p:cNvPr id="11" name="Picture 10" descr="04_categorical_grade.png"/>
          <p:cNvPicPr>
            <a:picLocks noChangeAspect="1"/>
          </p:cNvPicPr>
          <p:nvPr/>
        </p:nvPicPr>
        <p:blipFill>
          <a:blip r:embed="rId3"/>
          <a:stretch>
            <a:fillRect/>
          </a:stretch>
        </p:blipFill>
        <p:spPr>
          <a:xfrm>
            <a:off x="5943600" y="3840480"/>
            <a:ext cx="4572000" cy="228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731520"/>
          </a:xfrm>
          <a:prstGeom prst="rect">
            <a:avLst/>
          </a:prstGeom>
          <a:noFill/>
        </p:spPr>
        <p:txBody>
          <a:bodyPr wrap="square">
            <a:spAutoFit/>
          </a:bodyPr>
          <a:lstStyle/>
          <a:p>
            <a:pPr algn="l">
              <a:defRPr sz="3600" b="1">
                <a:solidFill>
                  <a:srgbClr val="0096C7"/>
                </a:solidFill>
              </a:defRPr>
            </a:pPr>
            <a:r>
              <a:t>Metodologi</a:t>
            </a:r>
          </a:p>
        </p:txBody>
      </p:sp>
      <p:sp>
        <p:nvSpPr>
          <p:cNvPr id="4" name="Rounded Rectangle 3"/>
          <p:cNvSpPr/>
          <p:nvPr/>
        </p:nvSpPr>
        <p:spPr>
          <a:xfrm>
            <a:off x="457200" y="1828800"/>
            <a:ext cx="1828800" cy="32004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51560" y="1554480"/>
            <a:ext cx="640080" cy="640080"/>
          </a:xfrm>
          <a:prstGeom prst="round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554480"/>
            <a:ext cx="640080" cy="640080"/>
          </a:xfrm>
          <a:prstGeom prst="rect">
            <a:avLst/>
          </a:prstGeom>
          <a:noFill/>
        </p:spPr>
        <p:txBody>
          <a:bodyPr wrap="square">
            <a:spAutoFit/>
          </a:bodyPr>
          <a:lstStyle/>
          <a:p>
            <a:pPr algn="ctr">
              <a:defRPr sz="2400" b="1">
                <a:solidFill>
                  <a:srgbClr val="FFFFFF"/>
                </a:solidFill>
              </a:defRPr>
            </a:pPr>
            <a:r>
              <a:t>1</a:t>
            </a:r>
          </a:p>
        </p:txBody>
      </p:sp>
      <p:sp>
        <p:nvSpPr>
          <p:cNvPr id="7" name="TextBox 6"/>
          <p:cNvSpPr txBox="1"/>
          <p:nvPr/>
        </p:nvSpPr>
        <p:spPr>
          <a:xfrm>
            <a:off x="548640" y="2286000"/>
            <a:ext cx="1645920" cy="457200"/>
          </a:xfrm>
          <a:prstGeom prst="rect">
            <a:avLst/>
          </a:prstGeom>
          <a:noFill/>
        </p:spPr>
        <p:txBody>
          <a:bodyPr wrap="square">
            <a:spAutoFit/>
          </a:bodyPr>
          <a:lstStyle/>
          <a:p>
            <a:pPr algn="ctr">
              <a:defRPr sz="1400" b="1">
                <a:solidFill>
                  <a:srgbClr val="FFFFFF"/>
                </a:solidFill>
              </a:defRPr>
            </a:pPr>
            <a:r>
              <a:t>Pengumpulan Data</a:t>
            </a:r>
          </a:p>
        </p:txBody>
      </p:sp>
      <p:sp>
        <p:nvSpPr>
          <p:cNvPr id="8" name="TextBox 7"/>
          <p:cNvSpPr txBox="1"/>
          <p:nvPr/>
        </p:nvSpPr>
        <p:spPr>
          <a:xfrm>
            <a:off x="548640" y="2926080"/>
            <a:ext cx="1645920" cy="1828800"/>
          </a:xfrm>
          <a:prstGeom prst="rect">
            <a:avLst/>
          </a:prstGeom>
          <a:noFill/>
        </p:spPr>
        <p:txBody>
          <a:bodyPr wrap="square">
            <a:spAutoFit/>
          </a:bodyPr>
          <a:lstStyle/>
          <a:p>
            <a:pPr algn="ctr">
              <a:defRPr sz="1200" b="0">
                <a:solidFill>
                  <a:srgbClr val="999999"/>
                </a:solidFill>
              </a:defRPr>
            </a:pPr>
            <a:r>
              <a:t>Lending Club Loan Data</a:t>
            </a:r>
          </a:p>
        </p:txBody>
      </p:sp>
      <p:sp>
        <p:nvSpPr>
          <p:cNvPr id="9" name="Rounded Rectangle 8"/>
          <p:cNvSpPr/>
          <p:nvPr/>
        </p:nvSpPr>
        <p:spPr>
          <a:xfrm>
            <a:off x="2377440" y="1828800"/>
            <a:ext cx="1828800" cy="32004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71800" y="1554480"/>
            <a:ext cx="640080" cy="640080"/>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1554480"/>
            <a:ext cx="640080" cy="640080"/>
          </a:xfrm>
          <a:prstGeom prst="rect">
            <a:avLst/>
          </a:prstGeom>
          <a:noFill/>
        </p:spPr>
        <p:txBody>
          <a:bodyPr wrap="square">
            <a:spAutoFit/>
          </a:bodyPr>
          <a:lstStyle/>
          <a:p>
            <a:pPr algn="ctr">
              <a:defRPr sz="2400" b="1">
                <a:solidFill>
                  <a:srgbClr val="FFFFFF"/>
                </a:solidFill>
              </a:defRPr>
            </a:pPr>
            <a:r>
              <a:t>2</a:t>
            </a:r>
          </a:p>
        </p:txBody>
      </p:sp>
      <p:sp>
        <p:nvSpPr>
          <p:cNvPr id="12" name="TextBox 11"/>
          <p:cNvSpPr txBox="1"/>
          <p:nvPr/>
        </p:nvSpPr>
        <p:spPr>
          <a:xfrm>
            <a:off x="2468880" y="2286000"/>
            <a:ext cx="1645920" cy="457200"/>
          </a:xfrm>
          <a:prstGeom prst="rect">
            <a:avLst/>
          </a:prstGeom>
          <a:noFill/>
        </p:spPr>
        <p:txBody>
          <a:bodyPr wrap="square">
            <a:spAutoFit/>
          </a:bodyPr>
          <a:lstStyle/>
          <a:p>
            <a:pPr algn="ctr">
              <a:defRPr sz="1400" b="1">
                <a:solidFill>
                  <a:srgbClr val="FFFFFF"/>
                </a:solidFill>
              </a:defRPr>
            </a:pPr>
            <a:r>
              <a:t>Eksplorasi (EDA)</a:t>
            </a:r>
          </a:p>
        </p:txBody>
      </p:sp>
      <p:sp>
        <p:nvSpPr>
          <p:cNvPr id="13" name="TextBox 12"/>
          <p:cNvSpPr txBox="1"/>
          <p:nvPr/>
        </p:nvSpPr>
        <p:spPr>
          <a:xfrm>
            <a:off x="2468880" y="2926080"/>
            <a:ext cx="1645920" cy="1828800"/>
          </a:xfrm>
          <a:prstGeom prst="rect">
            <a:avLst/>
          </a:prstGeom>
          <a:noFill/>
        </p:spPr>
        <p:txBody>
          <a:bodyPr wrap="square">
            <a:spAutoFit/>
          </a:bodyPr>
          <a:lstStyle/>
          <a:p>
            <a:pPr algn="ctr">
              <a:defRPr sz="1200" b="0">
                <a:solidFill>
                  <a:srgbClr val="999999"/>
                </a:solidFill>
              </a:defRPr>
            </a:pPr>
            <a:r>
              <a:t>Analisis distribusi &amp; korelasi</a:t>
            </a:r>
          </a:p>
        </p:txBody>
      </p:sp>
      <p:sp>
        <p:nvSpPr>
          <p:cNvPr id="14" name="Rounded Rectangle 13"/>
          <p:cNvSpPr/>
          <p:nvPr/>
        </p:nvSpPr>
        <p:spPr>
          <a:xfrm>
            <a:off x="4297680" y="1828800"/>
            <a:ext cx="1828800" cy="32004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892040" y="1554480"/>
            <a:ext cx="640080" cy="640080"/>
          </a:xfrm>
          <a:prstGeom prst="roundRect">
            <a:avLst/>
          </a:prstGeom>
          <a:solidFill>
            <a:srgbClr val="9B59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92040" y="1554480"/>
            <a:ext cx="640080" cy="640080"/>
          </a:xfrm>
          <a:prstGeom prst="rect">
            <a:avLst/>
          </a:prstGeom>
          <a:noFill/>
        </p:spPr>
        <p:txBody>
          <a:bodyPr wrap="square">
            <a:spAutoFit/>
          </a:bodyPr>
          <a:lstStyle/>
          <a:p>
            <a:pPr algn="ctr">
              <a:defRPr sz="2400" b="1">
                <a:solidFill>
                  <a:srgbClr val="FFFFFF"/>
                </a:solidFill>
              </a:defRPr>
            </a:pPr>
            <a:r>
              <a:t>3</a:t>
            </a:r>
          </a:p>
        </p:txBody>
      </p:sp>
      <p:sp>
        <p:nvSpPr>
          <p:cNvPr id="17" name="TextBox 16"/>
          <p:cNvSpPr txBox="1"/>
          <p:nvPr/>
        </p:nvSpPr>
        <p:spPr>
          <a:xfrm>
            <a:off x="4389120" y="2286000"/>
            <a:ext cx="1645920" cy="457200"/>
          </a:xfrm>
          <a:prstGeom prst="rect">
            <a:avLst/>
          </a:prstGeom>
          <a:noFill/>
        </p:spPr>
        <p:txBody>
          <a:bodyPr wrap="square">
            <a:spAutoFit/>
          </a:bodyPr>
          <a:lstStyle/>
          <a:p>
            <a:pPr algn="ctr">
              <a:defRPr sz="1400" b="1">
                <a:solidFill>
                  <a:srgbClr val="FFFFFF"/>
                </a:solidFill>
              </a:defRPr>
            </a:pPr>
            <a:r>
              <a:t>Pembersihan Data</a:t>
            </a:r>
          </a:p>
        </p:txBody>
      </p:sp>
      <p:sp>
        <p:nvSpPr>
          <p:cNvPr id="18" name="TextBox 17"/>
          <p:cNvSpPr txBox="1"/>
          <p:nvPr/>
        </p:nvSpPr>
        <p:spPr>
          <a:xfrm>
            <a:off x="4389120" y="2926080"/>
            <a:ext cx="1645920" cy="1828800"/>
          </a:xfrm>
          <a:prstGeom prst="rect">
            <a:avLst/>
          </a:prstGeom>
          <a:noFill/>
        </p:spPr>
        <p:txBody>
          <a:bodyPr wrap="square">
            <a:spAutoFit/>
          </a:bodyPr>
          <a:lstStyle/>
          <a:p>
            <a:pPr algn="ctr">
              <a:defRPr sz="1200" b="0">
                <a:solidFill>
                  <a:srgbClr val="999999"/>
                </a:solidFill>
              </a:defRPr>
            </a:pPr>
            <a:r>
              <a:t>Hapus data leakage (post-loan)</a:t>
            </a:r>
          </a:p>
        </p:txBody>
      </p:sp>
      <p:sp>
        <p:nvSpPr>
          <p:cNvPr id="19" name="Rounded Rectangle 18"/>
          <p:cNvSpPr/>
          <p:nvPr/>
        </p:nvSpPr>
        <p:spPr>
          <a:xfrm>
            <a:off x="6217920" y="1828800"/>
            <a:ext cx="1828800" cy="32004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812280" y="1554480"/>
            <a:ext cx="640080" cy="640080"/>
          </a:xfrm>
          <a:prstGeom prst="round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1554480"/>
            <a:ext cx="640080" cy="640080"/>
          </a:xfrm>
          <a:prstGeom prst="rect">
            <a:avLst/>
          </a:prstGeom>
          <a:noFill/>
        </p:spPr>
        <p:txBody>
          <a:bodyPr wrap="square">
            <a:spAutoFit/>
          </a:bodyPr>
          <a:lstStyle/>
          <a:p>
            <a:pPr algn="ctr">
              <a:defRPr sz="2400" b="1">
                <a:solidFill>
                  <a:srgbClr val="FFFFFF"/>
                </a:solidFill>
              </a:defRPr>
            </a:pPr>
            <a:r>
              <a:t>4</a:t>
            </a:r>
          </a:p>
        </p:txBody>
      </p:sp>
      <p:sp>
        <p:nvSpPr>
          <p:cNvPr id="22" name="TextBox 21"/>
          <p:cNvSpPr txBox="1"/>
          <p:nvPr/>
        </p:nvSpPr>
        <p:spPr>
          <a:xfrm>
            <a:off x="6309360" y="2286000"/>
            <a:ext cx="1645920" cy="457200"/>
          </a:xfrm>
          <a:prstGeom prst="rect">
            <a:avLst/>
          </a:prstGeom>
          <a:noFill/>
        </p:spPr>
        <p:txBody>
          <a:bodyPr wrap="square">
            <a:spAutoFit/>
          </a:bodyPr>
          <a:lstStyle/>
          <a:p>
            <a:pPr algn="ctr">
              <a:defRPr sz="1400" b="1">
                <a:solidFill>
                  <a:srgbClr val="FFFFFF"/>
                </a:solidFill>
              </a:defRPr>
            </a:pPr>
            <a:r>
              <a:t>Penyeimbangan</a:t>
            </a:r>
          </a:p>
        </p:txBody>
      </p:sp>
      <p:sp>
        <p:nvSpPr>
          <p:cNvPr id="23" name="TextBox 22"/>
          <p:cNvSpPr txBox="1"/>
          <p:nvPr/>
        </p:nvSpPr>
        <p:spPr>
          <a:xfrm>
            <a:off x="6309360" y="2926080"/>
            <a:ext cx="1645920" cy="1828800"/>
          </a:xfrm>
          <a:prstGeom prst="rect">
            <a:avLst/>
          </a:prstGeom>
          <a:noFill/>
        </p:spPr>
        <p:txBody>
          <a:bodyPr wrap="square">
            <a:spAutoFit/>
          </a:bodyPr>
          <a:lstStyle/>
          <a:p>
            <a:pPr algn="ctr">
              <a:defRPr sz="1200" b="0">
                <a:solidFill>
                  <a:srgbClr val="999999"/>
                </a:solidFill>
              </a:defRPr>
            </a:pPr>
            <a:r>
              <a:t>SMOTE agar model mengenali Bad Loan</a:t>
            </a:r>
          </a:p>
        </p:txBody>
      </p:sp>
      <p:sp>
        <p:nvSpPr>
          <p:cNvPr id="24" name="Rounded Rectangle 23"/>
          <p:cNvSpPr/>
          <p:nvPr/>
        </p:nvSpPr>
        <p:spPr>
          <a:xfrm>
            <a:off x="8138160" y="1828800"/>
            <a:ext cx="1828800" cy="32004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732520" y="1554480"/>
            <a:ext cx="640080" cy="640080"/>
          </a:xfrm>
          <a:prstGeom prst="round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32520" y="1554480"/>
            <a:ext cx="640080" cy="640080"/>
          </a:xfrm>
          <a:prstGeom prst="rect">
            <a:avLst/>
          </a:prstGeom>
          <a:noFill/>
        </p:spPr>
        <p:txBody>
          <a:bodyPr wrap="square">
            <a:spAutoFit/>
          </a:bodyPr>
          <a:lstStyle/>
          <a:p>
            <a:pPr algn="ctr">
              <a:defRPr sz="2400" b="1">
                <a:solidFill>
                  <a:srgbClr val="FFFFFF"/>
                </a:solidFill>
              </a:defRPr>
            </a:pPr>
            <a:r>
              <a:t>5</a:t>
            </a:r>
          </a:p>
        </p:txBody>
      </p:sp>
      <p:sp>
        <p:nvSpPr>
          <p:cNvPr id="27" name="TextBox 26"/>
          <p:cNvSpPr txBox="1"/>
          <p:nvPr/>
        </p:nvSpPr>
        <p:spPr>
          <a:xfrm>
            <a:off x="8229600" y="2286000"/>
            <a:ext cx="1645920" cy="457200"/>
          </a:xfrm>
          <a:prstGeom prst="rect">
            <a:avLst/>
          </a:prstGeom>
          <a:noFill/>
        </p:spPr>
        <p:txBody>
          <a:bodyPr wrap="square">
            <a:spAutoFit/>
          </a:bodyPr>
          <a:lstStyle/>
          <a:p>
            <a:pPr algn="ctr">
              <a:defRPr sz="1400" b="1">
                <a:solidFill>
                  <a:srgbClr val="FFFFFF"/>
                </a:solidFill>
              </a:defRPr>
            </a:pPr>
            <a:r>
              <a:t>Pemodelan</a:t>
            </a:r>
          </a:p>
        </p:txBody>
      </p:sp>
      <p:sp>
        <p:nvSpPr>
          <p:cNvPr id="28" name="TextBox 27"/>
          <p:cNvSpPr txBox="1"/>
          <p:nvPr/>
        </p:nvSpPr>
        <p:spPr>
          <a:xfrm>
            <a:off x="8229600" y="2926080"/>
            <a:ext cx="1645920" cy="1828800"/>
          </a:xfrm>
          <a:prstGeom prst="rect">
            <a:avLst/>
          </a:prstGeom>
          <a:noFill/>
        </p:spPr>
        <p:txBody>
          <a:bodyPr wrap="square">
            <a:spAutoFit/>
          </a:bodyPr>
          <a:lstStyle/>
          <a:p>
            <a:pPr algn="ctr">
              <a:defRPr sz="1200" b="0">
                <a:solidFill>
                  <a:srgbClr val="999999"/>
                </a:solidFill>
              </a:defRPr>
            </a:pPr>
            <a:r>
              <a:t>Eksperimen 4 algoritma ML</a:t>
            </a:r>
          </a:p>
        </p:txBody>
      </p:sp>
      <p:sp>
        <p:nvSpPr>
          <p:cNvPr id="29" name="Rounded Rectangle 28"/>
          <p:cNvSpPr/>
          <p:nvPr/>
        </p:nvSpPr>
        <p:spPr>
          <a:xfrm>
            <a:off x="10058400" y="1828800"/>
            <a:ext cx="1828800" cy="32004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652760" y="1554480"/>
            <a:ext cx="640080" cy="640080"/>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52760" y="1554480"/>
            <a:ext cx="640080" cy="640080"/>
          </a:xfrm>
          <a:prstGeom prst="rect">
            <a:avLst/>
          </a:prstGeom>
          <a:noFill/>
        </p:spPr>
        <p:txBody>
          <a:bodyPr wrap="square">
            <a:spAutoFit/>
          </a:bodyPr>
          <a:lstStyle/>
          <a:p>
            <a:pPr algn="ctr">
              <a:defRPr sz="2400" b="1">
                <a:solidFill>
                  <a:srgbClr val="FFFFFF"/>
                </a:solidFill>
              </a:defRPr>
            </a:pPr>
            <a:r>
              <a:t>6</a:t>
            </a:r>
          </a:p>
        </p:txBody>
      </p:sp>
      <p:sp>
        <p:nvSpPr>
          <p:cNvPr id="32" name="TextBox 31"/>
          <p:cNvSpPr txBox="1"/>
          <p:nvPr/>
        </p:nvSpPr>
        <p:spPr>
          <a:xfrm>
            <a:off x="10149840" y="2286000"/>
            <a:ext cx="1645920" cy="457200"/>
          </a:xfrm>
          <a:prstGeom prst="rect">
            <a:avLst/>
          </a:prstGeom>
          <a:noFill/>
        </p:spPr>
        <p:txBody>
          <a:bodyPr wrap="square">
            <a:spAutoFit/>
          </a:bodyPr>
          <a:lstStyle/>
          <a:p>
            <a:pPr algn="ctr">
              <a:defRPr sz="1400" b="1">
                <a:solidFill>
                  <a:srgbClr val="FFFFFF"/>
                </a:solidFill>
              </a:defRPr>
            </a:pPr>
            <a:r>
              <a:t>Evaluasi &amp; Optimasi</a:t>
            </a:r>
          </a:p>
        </p:txBody>
      </p:sp>
      <p:sp>
        <p:nvSpPr>
          <p:cNvPr id="33" name="TextBox 32"/>
          <p:cNvSpPr txBox="1"/>
          <p:nvPr/>
        </p:nvSpPr>
        <p:spPr>
          <a:xfrm>
            <a:off x="10149840" y="2926080"/>
            <a:ext cx="1645920" cy="1828800"/>
          </a:xfrm>
          <a:prstGeom prst="rect">
            <a:avLst/>
          </a:prstGeom>
          <a:noFill/>
        </p:spPr>
        <p:txBody>
          <a:bodyPr wrap="square">
            <a:spAutoFit/>
          </a:bodyPr>
          <a:lstStyle/>
          <a:p>
            <a:pPr algn="ctr">
              <a:defRPr sz="1200" b="0">
                <a:solidFill>
                  <a:srgbClr val="999999"/>
                </a:solidFill>
              </a:defRPr>
            </a:pPr>
            <a:r>
              <a:t>Tuning parameter model terbaik</a:t>
            </a:r>
          </a:p>
        </p:txBody>
      </p:sp>
      <p:sp>
        <p:nvSpPr>
          <p:cNvPr id="34" name="Rounded Rectangle 33"/>
          <p:cNvSpPr/>
          <p:nvPr/>
        </p:nvSpPr>
        <p:spPr>
          <a:xfrm>
            <a:off x="731520" y="5303520"/>
            <a:ext cx="10698480" cy="109728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394960"/>
            <a:ext cx="9144000" cy="365760"/>
          </a:xfrm>
          <a:prstGeom prst="rect">
            <a:avLst/>
          </a:prstGeom>
          <a:noFill/>
        </p:spPr>
        <p:txBody>
          <a:bodyPr wrap="square">
            <a:spAutoFit/>
          </a:bodyPr>
          <a:lstStyle/>
          <a:p>
            <a:pPr algn="l">
              <a:defRPr sz="1600" b="1">
                <a:solidFill>
                  <a:srgbClr val="E74C3C"/>
                </a:solidFill>
              </a:defRPr>
            </a:pPr>
            <a:r>
              <a:t>Catatan Kritis:</a:t>
            </a:r>
          </a:p>
        </p:txBody>
      </p:sp>
      <p:sp>
        <p:nvSpPr>
          <p:cNvPr id="36" name="TextBox 35"/>
          <p:cNvSpPr txBox="1"/>
          <p:nvPr/>
        </p:nvSpPr>
        <p:spPr>
          <a:xfrm>
            <a:off x="1005840" y="5760720"/>
            <a:ext cx="9144000" cy="548640"/>
          </a:xfrm>
          <a:prstGeom prst="rect">
            <a:avLst/>
          </a:prstGeom>
          <a:noFill/>
        </p:spPr>
        <p:txBody>
          <a:bodyPr wrap="square">
            <a:spAutoFit/>
          </a:bodyPr>
          <a:lstStyle/>
          <a:p>
            <a:pPr algn="l">
              <a:defRPr sz="1300" b="0">
                <a:solidFill>
                  <a:srgbClr val="FFFFFF"/>
                </a:solidFill>
              </a:defRPr>
            </a:pPr>
            <a:r>
              <a:t>Menghapus variabel informasi setelah pinjaman berjalan agar model murni belajar dari data SEBELUM pinjaman disetujui.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731520"/>
          </a:xfrm>
          <a:prstGeom prst="rect">
            <a:avLst/>
          </a:prstGeom>
          <a:noFill/>
        </p:spPr>
        <p:txBody>
          <a:bodyPr wrap="square">
            <a:spAutoFit/>
          </a:bodyPr>
          <a:lstStyle/>
          <a:p>
            <a:pPr algn="l">
              <a:defRPr sz="3600" b="1">
                <a:solidFill>
                  <a:srgbClr val="0096C7"/>
                </a:solidFill>
              </a:defRPr>
            </a:pPr>
            <a:r>
              <a:t>Hasil &amp; Perbandingan Model</a:t>
            </a:r>
          </a:p>
        </p:txBody>
      </p:sp>
      <p:pic>
        <p:nvPicPr>
          <p:cNvPr id="4" name="Picture 3" descr="10_roc_curve_comparison.png"/>
          <p:cNvPicPr>
            <a:picLocks noChangeAspect="1"/>
          </p:cNvPicPr>
          <p:nvPr/>
        </p:nvPicPr>
        <p:blipFill>
          <a:blip r:embed="rId2"/>
          <a:stretch>
            <a:fillRect/>
          </a:stretch>
        </p:blipFill>
        <p:spPr>
          <a:xfrm>
            <a:off x="274320" y="1280160"/>
            <a:ext cx="5669280" cy="4114800"/>
          </a:xfrm>
          <a:prstGeom prst="rect">
            <a:avLst/>
          </a:prstGeom>
        </p:spPr>
      </p:pic>
      <p:sp>
        <p:nvSpPr>
          <p:cNvPr id="5" name="Rounded Rectangle 4"/>
          <p:cNvSpPr/>
          <p:nvPr/>
        </p:nvSpPr>
        <p:spPr>
          <a:xfrm>
            <a:off x="6217920" y="1280160"/>
            <a:ext cx="5486400" cy="292608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371600"/>
            <a:ext cx="5029200" cy="365760"/>
          </a:xfrm>
          <a:prstGeom prst="rect">
            <a:avLst/>
          </a:prstGeom>
          <a:noFill/>
        </p:spPr>
        <p:txBody>
          <a:bodyPr wrap="square">
            <a:spAutoFit/>
          </a:bodyPr>
          <a:lstStyle/>
          <a:p>
            <a:pPr algn="l">
              <a:defRPr sz="1800" b="1">
                <a:solidFill>
                  <a:srgbClr val="0096C7"/>
                </a:solidFill>
              </a:defRPr>
            </a:pPr>
            <a:r>
              <a:t>Tabel Kinerja Model</a:t>
            </a:r>
          </a:p>
        </p:txBody>
      </p:sp>
      <p:sp>
        <p:nvSpPr>
          <p:cNvPr id="7" name="TextBox 6"/>
          <p:cNvSpPr txBox="1"/>
          <p:nvPr/>
        </p:nvSpPr>
        <p:spPr>
          <a:xfrm>
            <a:off x="6492240" y="1920240"/>
            <a:ext cx="5029200" cy="320040"/>
          </a:xfrm>
          <a:prstGeom prst="rect">
            <a:avLst/>
          </a:prstGeom>
          <a:noFill/>
        </p:spPr>
        <p:txBody>
          <a:bodyPr wrap="square">
            <a:spAutoFit/>
          </a:bodyPr>
          <a:lstStyle/>
          <a:p>
            <a:pPr algn="l">
              <a:defRPr sz="1400" b="1">
                <a:solidFill>
                  <a:srgbClr val="FFFFFF"/>
                </a:solidFill>
              </a:defRPr>
            </a:pPr>
            <a:r>
              <a:t>Model  |  Akurasi  |  ROC-AUC</a:t>
            </a:r>
          </a:p>
        </p:txBody>
      </p:sp>
      <p:sp>
        <p:nvSpPr>
          <p:cNvPr id="8" name="TextBox 7"/>
          <p:cNvSpPr txBox="1"/>
          <p:nvPr/>
        </p:nvSpPr>
        <p:spPr>
          <a:xfrm>
            <a:off x="6492240" y="2286000"/>
            <a:ext cx="5029200" cy="320040"/>
          </a:xfrm>
          <a:prstGeom prst="rect">
            <a:avLst/>
          </a:prstGeom>
          <a:noFill/>
        </p:spPr>
        <p:txBody>
          <a:bodyPr wrap="square">
            <a:spAutoFit/>
          </a:bodyPr>
          <a:lstStyle/>
          <a:p>
            <a:pPr algn="l">
              <a:defRPr sz="1400" b="0">
                <a:solidFill>
                  <a:srgbClr val="999999"/>
                </a:solidFill>
              </a:defRPr>
            </a:pPr>
            <a:r>
              <a:t>Logistic Reg.  |  80.5%  |  0.691</a:t>
            </a:r>
          </a:p>
        </p:txBody>
      </p:sp>
      <p:sp>
        <p:nvSpPr>
          <p:cNvPr id="9" name="TextBox 8"/>
          <p:cNvSpPr txBox="1"/>
          <p:nvPr/>
        </p:nvSpPr>
        <p:spPr>
          <a:xfrm>
            <a:off x="6492240" y="2651760"/>
            <a:ext cx="5029200" cy="320040"/>
          </a:xfrm>
          <a:prstGeom prst="rect">
            <a:avLst/>
          </a:prstGeom>
          <a:noFill/>
        </p:spPr>
        <p:txBody>
          <a:bodyPr wrap="square">
            <a:spAutoFit/>
          </a:bodyPr>
          <a:lstStyle/>
          <a:p>
            <a:pPr algn="l">
              <a:defRPr sz="1400" b="0">
                <a:solidFill>
                  <a:srgbClr val="999999"/>
                </a:solidFill>
              </a:defRPr>
            </a:pPr>
            <a:r>
              <a:t>Decision Tree  |  77.6%  |  0.667</a:t>
            </a:r>
          </a:p>
        </p:txBody>
      </p:sp>
      <p:sp>
        <p:nvSpPr>
          <p:cNvPr id="10" name="TextBox 9"/>
          <p:cNvSpPr txBox="1"/>
          <p:nvPr/>
        </p:nvSpPr>
        <p:spPr>
          <a:xfrm>
            <a:off x="6492240" y="3017520"/>
            <a:ext cx="5029200" cy="320040"/>
          </a:xfrm>
          <a:prstGeom prst="rect">
            <a:avLst/>
          </a:prstGeom>
          <a:noFill/>
        </p:spPr>
        <p:txBody>
          <a:bodyPr wrap="square">
            <a:spAutoFit/>
          </a:bodyPr>
          <a:lstStyle/>
          <a:p>
            <a:pPr algn="l">
              <a:defRPr sz="1400" b="0">
                <a:solidFill>
                  <a:srgbClr val="999999"/>
                </a:solidFill>
              </a:defRPr>
            </a:pPr>
            <a:r>
              <a:t>Random Forest  |  78.3%  |  0.687</a:t>
            </a:r>
          </a:p>
        </p:txBody>
      </p:sp>
      <p:sp>
        <p:nvSpPr>
          <p:cNvPr id="11" name="TextBox 10"/>
          <p:cNvSpPr txBox="1"/>
          <p:nvPr/>
        </p:nvSpPr>
        <p:spPr>
          <a:xfrm>
            <a:off x="6492240" y="3383280"/>
            <a:ext cx="5029200" cy="320040"/>
          </a:xfrm>
          <a:prstGeom prst="rect">
            <a:avLst/>
          </a:prstGeom>
          <a:noFill/>
        </p:spPr>
        <p:txBody>
          <a:bodyPr wrap="square">
            <a:spAutoFit/>
          </a:bodyPr>
          <a:lstStyle/>
          <a:p>
            <a:pPr algn="l">
              <a:defRPr sz="1400" b="0">
                <a:solidFill>
                  <a:srgbClr val="999999"/>
                </a:solidFill>
              </a:defRPr>
            </a:pPr>
            <a:r>
              <a:t>XGBoost  |  80.8%  |  0.699</a:t>
            </a:r>
          </a:p>
        </p:txBody>
      </p:sp>
      <p:sp>
        <p:nvSpPr>
          <p:cNvPr id="12" name="TextBox 11"/>
          <p:cNvSpPr txBox="1"/>
          <p:nvPr/>
        </p:nvSpPr>
        <p:spPr>
          <a:xfrm>
            <a:off x="6492240" y="3749039"/>
            <a:ext cx="5029200" cy="320040"/>
          </a:xfrm>
          <a:prstGeom prst="rect">
            <a:avLst/>
          </a:prstGeom>
          <a:noFill/>
        </p:spPr>
        <p:txBody>
          <a:bodyPr wrap="square">
            <a:spAutoFit/>
          </a:bodyPr>
          <a:lstStyle/>
          <a:p>
            <a:pPr algn="l">
              <a:defRPr sz="1400" b="1">
                <a:solidFill>
                  <a:srgbClr val="2ECC71"/>
                </a:solidFill>
              </a:defRPr>
            </a:pPr>
            <a:r>
              <a:t>XGB Tuned  |  79.2%  |  0.701</a:t>
            </a:r>
          </a:p>
        </p:txBody>
      </p:sp>
      <p:sp>
        <p:nvSpPr>
          <p:cNvPr id="13" name="Rounded Rectangle 12"/>
          <p:cNvSpPr/>
          <p:nvPr/>
        </p:nvSpPr>
        <p:spPr>
          <a:xfrm>
            <a:off x="6217920" y="4389120"/>
            <a:ext cx="5486400" cy="18288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480560"/>
            <a:ext cx="5029200" cy="365760"/>
          </a:xfrm>
          <a:prstGeom prst="rect">
            <a:avLst/>
          </a:prstGeom>
          <a:noFill/>
        </p:spPr>
        <p:txBody>
          <a:bodyPr wrap="square">
            <a:spAutoFit/>
          </a:bodyPr>
          <a:lstStyle/>
          <a:p>
            <a:pPr algn="l">
              <a:defRPr sz="1600" b="1">
                <a:solidFill>
                  <a:srgbClr val="2ECC71"/>
                </a:solidFill>
              </a:defRPr>
            </a:pPr>
            <a:r>
              <a:t>Highlight Model: XGBoost (Tuned)</a:t>
            </a:r>
          </a:p>
        </p:txBody>
      </p:sp>
      <p:sp>
        <p:nvSpPr>
          <p:cNvPr id="15" name="TextBox 14"/>
          <p:cNvSpPr txBox="1"/>
          <p:nvPr/>
        </p:nvSpPr>
        <p:spPr>
          <a:xfrm>
            <a:off x="6400800" y="4937760"/>
            <a:ext cx="5029200" cy="1097280"/>
          </a:xfrm>
          <a:prstGeom prst="rect">
            <a:avLst/>
          </a:prstGeom>
          <a:noFill/>
        </p:spPr>
        <p:txBody>
          <a:bodyPr wrap="square">
            <a:spAutoFit/>
          </a:bodyPr>
          <a:lstStyle/>
          <a:p>
            <a:pPr algn="l">
              <a:defRPr sz="1300" b="0">
                <a:solidFill>
                  <a:srgbClr val="FFFFFF"/>
                </a:solidFill>
              </a:defRPr>
            </a:pPr>
            <a:r>
              <a:t>XGBoost dipilih karena memiliki skor ROC-AUC tertinggi (0.701). Dalam kasus imbalanced data, kita mencari model yang paling tajam membedakan antara kandidat baik dan buruk di berbagai skenario, bukan sekadar Akurasi.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731520"/>
          </a:xfrm>
          <a:prstGeom prst="rect">
            <a:avLst/>
          </a:prstGeom>
          <a:noFill/>
        </p:spPr>
        <p:txBody>
          <a:bodyPr wrap="square">
            <a:spAutoFit/>
          </a:bodyPr>
          <a:lstStyle/>
          <a:p>
            <a:pPr algn="l">
              <a:defRPr sz="3600" b="1">
                <a:solidFill>
                  <a:srgbClr val="0096C7"/>
                </a:solidFill>
              </a:defRPr>
            </a:pPr>
            <a:r>
              <a:t>Feature Importance &amp; Insight</a:t>
            </a:r>
          </a:p>
        </p:txBody>
      </p:sp>
      <p:pic>
        <p:nvPicPr>
          <p:cNvPr id="4" name="Picture 3" descr="14_feature_importance_top20.png"/>
          <p:cNvPicPr>
            <a:picLocks noChangeAspect="1"/>
          </p:cNvPicPr>
          <p:nvPr/>
        </p:nvPicPr>
        <p:blipFill>
          <a:blip r:embed="rId2"/>
          <a:stretch>
            <a:fillRect/>
          </a:stretch>
        </p:blipFill>
        <p:spPr>
          <a:xfrm>
            <a:off x="274320" y="1280160"/>
            <a:ext cx="5943600" cy="4114800"/>
          </a:xfrm>
          <a:prstGeom prst="rect">
            <a:avLst/>
          </a:prstGeom>
        </p:spPr>
      </p:pic>
      <p:sp>
        <p:nvSpPr>
          <p:cNvPr id="5" name="Rounded Rectangle 4"/>
          <p:cNvSpPr/>
          <p:nvPr/>
        </p:nvSpPr>
        <p:spPr>
          <a:xfrm>
            <a:off x="6400800" y="1280160"/>
            <a:ext cx="5303520" cy="50292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0" y="1371600"/>
            <a:ext cx="4572000" cy="365760"/>
          </a:xfrm>
          <a:prstGeom prst="rect">
            <a:avLst/>
          </a:prstGeom>
          <a:noFill/>
        </p:spPr>
        <p:txBody>
          <a:bodyPr wrap="square">
            <a:spAutoFit/>
          </a:bodyPr>
          <a:lstStyle/>
          <a:p>
            <a:pPr algn="l">
              <a:defRPr sz="1800" b="1">
                <a:solidFill>
                  <a:srgbClr val="E67E22"/>
                </a:solidFill>
              </a:defRPr>
            </a:pPr>
            <a:r>
              <a:t>Top 5 Faktor Paling Mempengaruhi</a:t>
            </a:r>
          </a:p>
        </p:txBody>
      </p:sp>
      <p:sp>
        <p:nvSpPr>
          <p:cNvPr id="7" name="TextBox 6"/>
          <p:cNvSpPr txBox="1"/>
          <p:nvPr/>
        </p:nvSpPr>
        <p:spPr>
          <a:xfrm>
            <a:off x="6675120" y="1920240"/>
            <a:ext cx="4572000" cy="274320"/>
          </a:xfrm>
          <a:prstGeom prst="rect">
            <a:avLst/>
          </a:prstGeom>
          <a:noFill/>
        </p:spPr>
        <p:txBody>
          <a:bodyPr wrap="square">
            <a:spAutoFit/>
          </a:bodyPr>
          <a:lstStyle/>
          <a:p>
            <a:pPr algn="l">
              <a:defRPr sz="1400" b="1">
                <a:solidFill>
                  <a:srgbClr val="FFFFFF"/>
                </a:solidFill>
              </a:defRPr>
            </a:pPr>
            <a:r>
              <a:t>1. Tenor Pinjaman (Term)</a:t>
            </a:r>
          </a:p>
        </p:txBody>
      </p:sp>
      <p:sp>
        <p:nvSpPr>
          <p:cNvPr id="8" name="TextBox 7"/>
          <p:cNvSpPr txBox="1"/>
          <p:nvPr/>
        </p:nvSpPr>
        <p:spPr>
          <a:xfrm>
            <a:off x="6675120" y="2194560"/>
            <a:ext cx="4572000" cy="502920"/>
          </a:xfrm>
          <a:prstGeom prst="rect">
            <a:avLst/>
          </a:prstGeom>
          <a:noFill/>
        </p:spPr>
        <p:txBody>
          <a:bodyPr wrap="square">
            <a:spAutoFit/>
          </a:bodyPr>
          <a:lstStyle/>
          <a:p>
            <a:pPr algn="l">
              <a:defRPr sz="1200" b="0">
                <a:solidFill>
                  <a:srgbClr val="999999"/>
                </a:solidFill>
              </a:defRPr>
            </a:pPr>
            <a:r>
              <a:t>Cicilan panjang (60 bulan) seringkali mengindikasikan keterbatasan arus kas bulanan.</a:t>
            </a:r>
          </a:p>
        </p:txBody>
      </p:sp>
      <p:sp>
        <p:nvSpPr>
          <p:cNvPr id="9" name="TextBox 8"/>
          <p:cNvSpPr txBox="1"/>
          <p:nvPr/>
        </p:nvSpPr>
        <p:spPr>
          <a:xfrm>
            <a:off x="6675120" y="2788920"/>
            <a:ext cx="4572000" cy="274320"/>
          </a:xfrm>
          <a:prstGeom prst="rect">
            <a:avLst/>
          </a:prstGeom>
          <a:noFill/>
        </p:spPr>
        <p:txBody>
          <a:bodyPr wrap="square">
            <a:spAutoFit/>
          </a:bodyPr>
          <a:lstStyle/>
          <a:p>
            <a:pPr algn="l">
              <a:defRPr sz="1400" b="1">
                <a:solidFill>
                  <a:srgbClr val="FFFFFF"/>
                </a:solidFill>
              </a:defRPr>
            </a:pPr>
            <a:r>
              <a:t>2. Status Kepemilikan Rumah</a:t>
            </a:r>
          </a:p>
        </p:txBody>
      </p:sp>
      <p:sp>
        <p:nvSpPr>
          <p:cNvPr id="10" name="TextBox 9"/>
          <p:cNvSpPr txBox="1"/>
          <p:nvPr/>
        </p:nvSpPr>
        <p:spPr>
          <a:xfrm>
            <a:off x="6675120" y="3063240"/>
            <a:ext cx="4572000" cy="502920"/>
          </a:xfrm>
          <a:prstGeom prst="rect">
            <a:avLst/>
          </a:prstGeom>
          <a:noFill/>
        </p:spPr>
        <p:txBody>
          <a:bodyPr wrap="square">
            <a:spAutoFit/>
          </a:bodyPr>
          <a:lstStyle/>
          <a:p>
            <a:pPr algn="l">
              <a:defRPr sz="1200" b="0">
                <a:solidFill>
                  <a:srgbClr val="999999"/>
                </a:solidFill>
              </a:defRPr>
            </a:pPr>
            <a:r>
              <a:t>Menyewa rumah menunjukkan risiko mobilitas &amp; instabilitas finansial dibanding pemilik rumah.</a:t>
            </a:r>
          </a:p>
        </p:txBody>
      </p:sp>
      <p:sp>
        <p:nvSpPr>
          <p:cNvPr id="11" name="TextBox 10"/>
          <p:cNvSpPr txBox="1"/>
          <p:nvPr/>
        </p:nvSpPr>
        <p:spPr>
          <a:xfrm>
            <a:off x="6675120" y="3657600"/>
            <a:ext cx="4572000" cy="274320"/>
          </a:xfrm>
          <a:prstGeom prst="rect">
            <a:avLst/>
          </a:prstGeom>
          <a:noFill/>
        </p:spPr>
        <p:txBody>
          <a:bodyPr wrap="square">
            <a:spAutoFit/>
          </a:bodyPr>
          <a:lstStyle/>
          <a:p>
            <a:pPr algn="l">
              <a:defRPr sz="1400" b="1">
                <a:solidFill>
                  <a:srgbClr val="FFFFFF"/>
                </a:solidFill>
              </a:defRPr>
            </a:pPr>
            <a:r>
              <a:t>3. Pencarian Kredit (Inquiries)</a:t>
            </a:r>
          </a:p>
        </p:txBody>
      </p:sp>
      <p:sp>
        <p:nvSpPr>
          <p:cNvPr id="12" name="TextBox 11"/>
          <p:cNvSpPr txBox="1"/>
          <p:nvPr/>
        </p:nvSpPr>
        <p:spPr>
          <a:xfrm>
            <a:off x="6675120" y="3931920"/>
            <a:ext cx="4572000" cy="502920"/>
          </a:xfrm>
          <a:prstGeom prst="rect">
            <a:avLst/>
          </a:prstGeom>
          <a:noFill/>
        </p:spPr>
        <p:txBody>
          <a:bodyPr wrap="square">
            <a:spAutoFit/>
          </a:bodyPr>
          <a:lstStyle/>
          <a:p>
            <a:pPr algn="l">
              <a:defRPr sz="1200" b="0">
                <a:solidFill>
                  <a:srgbClr val="999999"/>
                </a:solidFill>
              </a:defRPr>
            </a:pPr>
            <a:r>
              <a:t>Sering mencari pinjaman baru dalam 6 bln terakhir menandakan butuh dana darurat.</a:t>
            </a:r>
          </a:p>
        </p:txBody>
      </p:sp>
      <p:sp>
        <p:nvSpPr>
          <p:cNvPr id="13" name="TextBox 12"/>
          <p:cNvSpPr txBox="1"/>
          <p:nvPr/>
        </p:nvSpPr>
        <p:spPr>
          <a:xfrm>
            <a:off x="6675120" y="4526279"/>
            <a:ext cx="4572000" cy="274320"/>
          </a:xfrm>
          <a:prstGeom prst="rect">
            <a:avLst/>
          </a:prstGeom>
          <a:noFill/>
        </p:spPr>
        <p:txBody>
          <a:bodyPr wrap="square">
            <a:spAutoFit/>
          </a:bodyPr>
          <a:lstStyle/>
          <a:p>
            <a:pPr algn="l">
              <a:defRPr sz="1400" b="1">
                <a:solidFill>
                  <a:srgbClr val="FFFFFF"/>
                </a:solidFill>
              </a:defRPr>
            </a:pPr>
            <a:r>
              <a:t>4. Tujuan Pinjaman (Purpose)</a:t>
            </a:r>
          </a:p>
        </p:txBody>
      </p:sp>
      <p:sp>
        <p:nvSpPr>
          <p:cNvPr id="14" name="TextBox 13"/>
          <p:cNvSpPr txBox="1"/>
          <p:nvPr/>
        </p:nvSpPr>
        <p:spPr>
          <a:xfrm>
            <a:off x="6675120" y="4800599"/>
            <a:ext cx="4572000" cy="502920"/>
          </a:xfrm>
          <a:prstGeom prst="rect">
            <a:avLst/>
          </a:prstGeom>
          <a:noFill/>
        </p:spPr>
        <p:txBody>
          <a:bodyPr wrap="square">
            <a:spAutoFit/>
          </a:bodyPr>
          <a:lstStyle/>
          <a:p>
            <a:pPr algn="l">
              <a:defRPr sz="1200" b="0">
                <a:solidFill>
                  <a:srgbClr val="999999"/>
                </a:solidFill>
              </a:defRPr>
            </a:pPr>
            <a:r>
              <a:t>Tujuan tidak jelas ('Other') atau bisnis kecil sangat berisiko tinggi.</a:t>
            </a:r>
          </a:p>
        </p:txBody>
      </p:sp>
      <p:sp>
        <p:nvSpPr>
          <p:cNvPr id="15" name="TextBox 14"/>
          <p:cNvSpPr txBox="1"/>
          <p:nvPr/>
        </p:nvSpPr>
        <p:spPr>
          <a:xfrm>
            <a:off x="6675120" y="5394960"/>
            <a:ext cx="4572000" cy="274320"/>
          </a:xfrm>
          <a:prstGeom prst="rect">
            <a:avLst/>
          </a:prstGeom>
          <a:noFill/>
        </p:spPr>
        <p:txBody>
          <a:bodyPr wrap="square">
            <a:spAutoFit/>
          </a:bodyPr>
          <a:lstStyle/>
          <a:p>
            <a:pPr algn="l">
              <a:defRPr sz="1400" b="1">
                <a:solidFill>
                  <a:srgbClr val="FFFFFF"/>
                </a:solidFill>
              </a:defRPr>
            </a:pPr>
            <a:r>
              <a:t>5. Suku Bunga &amp; Rating</a:t>
            </a:r>
          </a:p>
        </p:txBody>
      </p:sp>
      <p:sp>
        <p:nvSpPr>
          <p:cNvPr id="16" name="TextBox 15"/>
          <p:cNvSpPr txBox="1"/>
          <p:nvPr/>
        </p:nvSpPr>
        <p:spPr>
          <a:xfrm>
            <a:off x="6675120" y="5669280"/>
            <a:ext cx="4572000" cy="502920"/>
          </a:xfrm>
          <a:prstGeom prst="rect">
            <a:avLst/>
          </a:prstGeom>
          <a:noFill/>
        </p:spPr>
        <p:txBody>
          <a:bodyPr wrap="square">
            <a:spAutoFit/>
          </a:bodyPr>
          <a:lstStyle/>
          <a:p>
            <a:pPr algn="l">
              <a:defRPr sz="1200" b="0">
                <a:solidFill>
                  <a:srgbClr val="999999"/>
                </a:solidFill>
              </a:defRPr>
            </a:pPr>
            <a:r>
              <a:t>Suku bunga/grade buruk yang diberikan sistem adalah indikator valid berujung gagal bayar.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731520"/>
          </a:xfrm>
          <a:prstGeom prst="rect">
            <a:avLst/>
          </a:prstGeom>
          <a:noFill/>
        </p:spPr>
        <p:txBody>
          <a:bodyPr wrap="square">
            <a:spAutoFit/>
          </a:bodyPr>
          <a:lstStyle/>
          <a:p>
            <a:pPr algn="l">
              <a:defRPr sz="3600" b="1">
                <a:solidFill>
                  <a:srgbClr val="0096C7"/>
                </a:solidFill>
              </a:defRPr>
            </a:pPr>
            <a:r>
              <a:t>Rekomendasi Bisnis</a:t>
            </a:r>
          </a:p>
        </p:txBody>
      </p:sp>
      <p:sp>
        <p:nvSpPr>
          <p:cNvPr id="4" name="Rounded Rectangle 3"/>
          <p:cNvSpPr/>
          <p:nvPr/>
        </p:nvSpPr>
        <p:spPr>
          <a:xfrm>
            <a:off x="914400" y="1645920"/>
            <a:ext cx="10332720" cy="118872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45920"/>
            <a:ext cx="91440" cy="1188720"/>
          </a:xfrm>
          <a:prstGeom prst="round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737360"/>
            <a:ext cx="9144000" cy="365760"/>
          </a:xfrm>
          <a:prstGeom prst="rect">
            <a:avLst/>
          </a:prstGeom>
          <a:noFill/>
        </p:spPr>
        <p:txBody>
          <a:bodyPr wrap="square">
            <a:spAutoFit/>
          </a:bodyPr>
          <a:lstStyle/>
          <a:p>
            <a:pPr algn="l">
              <a:defRPr sz="1800" b="1">
                <a:solidFill>
                  <a:srgbClr val="FFFFFF"/>
                </a:solidFill>
              </a:defRPr>
            </a:pPr>
            <a:r>
              <a:t>1. Terapkan Strategi Keputusan Berlapis</a:t>
            </a:r>
          </a:p>
        </p:txBody>
      </p:sp>
      <p:sp>
        <p:nvSpPr>
          <p:cNvPr id="7" name="TextBox 6"/>
          <p:cNvSpPr txBox="1"/>
          <p:nvPr/>
        </p:nvSpPr>
        <p:spPr>
          <a:xfrm>
            <a:off x="1371600" y="2103120"/>
            <a:ext cx="9144000" cy="548640"/>
          </a:xfrm>
          <a:prstGeom prst="rect">
            <a:avLst/>
          </a:prstGeom>
          <a:noFill/>
        </p:spPr>
        <p:txBody>
          <a:bodyPr wrap="square">
            <a:spAutoFit/>
          </a:bodyPr>
          <a:lstStyle/>
          <a:p>
            <a:pPr algn="l">
              <a:defRPr sz="1400" b="0">
                <a:solidFill>
                  <a:srgbClr val="999999"/>
                </a:solidFill>
              </a:defRPr>
            </a:pPr>
            <a:r>
              <a:t>Jangan gunakan aturan hitam-putih. Jika kita menyesuaikan batas toleransi skor (threshold), model dapat menangkap hingga 70% potensi gagal bayar sebelum terjadi, menyelamatkan kerugian finansial yang sangat besar.</a:t>
            </a:r>
          </a:p>
        </p:txBody>
      </p:sp>
      <p:sp>
        <p:nvSpPr>
          <p:cNvPr id="8" name="Rounded Rectangle 7"/>
          <p:cNvSpPr/>
          <p:nvPr/>
        </p:nvSpPr>
        <p:spPr>
          <a:xfrm>
            <a:off x="914400" y="3108960"/>
            <a:ext cx="10332720" cy="118872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3108960"/>
            <a:ext cx="91440" cy="1188720"/>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200400"/>
            <a:ext cx="9144000" cy="365760"/>
          </a:xfrm>
          <a:prstGeom prst="rect">
            <a:avLst/>
          </a:prstGeom>
          <a:noFill/>
        </p:spPr>
        <p:txBody>
          <a:bodyPr wrap="square">
            <a:spAutoFit/>
          </a:bodyPr>
          <a:lstStyle/>
          <a:p>
            <a:pPr algn="l">
              <a:defRPr sz="1800" b="1">
                <a:solidFill>
                  <a:srgbClr val="FFFFFF"/>
                </a:solidFill>
              </a:defRPr>
            </a:pPr>
            <a:r>
              <a:t>2. Perketat Analisis Tenor Panjang &amp; 'Small Business'</a:t>
            </a:r>
          </a:p>
        </p:txBody>
      </p:sp>
      <p:sp>
        <p:nvSpPr>
          <p:cNvPr id="11" name="TextBox 10"/>
          <p:cNvSpPr txBox="1"/>
          <p:nvPr/>
        </p:nvSpPr>
        <p:spPr>
          <a:xfrm>
            <a:off x="1371600" y="3566160"/>
            <a:ext cx="9144000" cy="548640"/>
          </a:xfrm>
          <a:prstGeom prst="rect">
            <a:avLst/>
          </a:prstGeom>
          <a:noFill/>
        </p:spPr>
        <p:txBody>
          <a:bodyPr wrap="square">
            <a:spAutoFit/>
          </a:bodyPr>
          <a:lstStyle/>
          <a:p>
            <a:pPr algn="l">
              <a:defRPr sz="1400" b="0">
                <a:solidFill>
                  <a:srgbClr val="999999"/>
                </a:solidFill>
              </a:defRPr>
            </a:pPr>
            <a:r>
              <a:t>Aplikasikan syarat yang lebih ketat, skor kredit minimal yang lebih tinggi, atau minta agunan tambahan untuk pengajuan pinjaman berdurasi 60 bulan dan tujuan bisnis kecil.</a:t>
            </a:r>
          </a:p>
        </p:txBody>
      </p:sp>
      <p:sp>
        <p:nvSpPr>
          <p:cNvPr id="12" name="Rounded Rectangle 11"/>
          <p:cNvSpPr/>
          <p:nvPr/>
        </p:nvSpPr>
        <p:spPr>
          <a:xfrm>
            <a:off x="914400" y="4572000"/>
            <a:ext cx="10332720" cy="118872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4572000"/>
            <a:ext cx="91440" cy="1188720"/>
          </a:xfrm>
          <a:prstGeom prst="round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4663440"/>
            <a:ext cx="9144000" cy="365760"/>
          </a:xfrm>
          <a:prstGeom prst="rect">
            <a:avLst/>
          </a:prstGeom>
          <a:noFill/>
        </p:spPr>
        <p:txBody>
          <a:bodyPr wrap="square">
            <a:spAutoFit/>
          </a:bodyPr>
          <a:lstStyle/>
          <a:p>
            <a:pPr algn="l">
              <a:defRPr sz="1800" b="1">
                <a:solidFill>
                  <a:srgbClr val="FFFFFF"/>
                </a:solidFill>
              </a:defRPr>
            </a:pPr>
            <a:r>
              <a:t>3. Implementasi Model Sebagai 'Asisten', Bukan Pengganti</a:t>
            </a:r>
          </a:p>
        </p:txBody>
      </p:sp>
      <p:sp>
        <p:nvSpPr>
          <p:cNvPr id="15" name="TextBox 14"/>
          <p:cNvSpPr txBox="1"/>
          <p:nvPr/>
        </p:nvSpPr>
        <p:spPr>
          <a:xfrm>
            <a:off x="1371600" y="5029200"/>
            <a:ext cx="9144000" cy="548640"/>
          </a:xfrm>
          <a:prstGeom prst="rect">
            <a:avLst/>
          </a:prstGeom>
          <a:noFill/>
        </p:spPr>
        <p:txBody>
          <a:bodyPr wrap="square">
            <a:spAutoFit/>
          </a:bodyPr>
          <a:lstStyle/>
          <a:p>
            <a:pPr algn="l">
              <a:defRPr sz="1400" b="0">
                <a:solidFill>
                  <a:srgbClr val="999999"/>
                </a:solidFill>
              </a:defRPr>
            </a:pPr>
            <a:r>
              <a:t>Gunakan prediksi XGBoost di dashboard analis kredit: Risiko ekstrem otomatis ditolak, risiko rendah otomatis disetujui, dan risiko menengah di-eskalasi untuk manual review oleh analis.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731520"/>
          </a:xfrm>
          <a:prstGeom prst="rect">
            <a:avLst/>
          </a:prstGeom>
          <a:noFill/>
        </p:spPr>
        <p:txBody>
          <a:bodyPr wrap="square">
            <a:spAutoFit/>
          </a:bodyPr>
          <a:lstStyle/>
          <a:p>
            <a:pPr algn="l">
              <a:defRPr sz="3600" b="1">
                <a:solidFill>
                  <a:srgbClr val="0096C7"/>
                </a:solidFill>
              </a:defRPr>
            </a:pPr>
            <a:r>
              <a:t>Kesimpulan &amp; Next Steps</a:t>
            </a:r>
          </a:p>
        </p:txBody>
      </p:sp>
      <p:sp>
        <p:nvSpPr>
          <p:cNvPr id="4" name="Rounded Rectangle 3"/>
          <p:cNvSpPr/>
          <p:nvPr/>
        </p:nvSpPr>
        <p:spPr>
          <a:xfrm>
            <a:off x="731520" y="1463040"/>
            <a:ext cx="10698480" cy="18288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9144000" cy="365760"/>
          </a:xfrm>
          <a:prstGeom prst="rect">
            <a:avLst/>
          </a:prstGeom>
          <a:noFill/>
        </p:spPr>
        <p:txBody>
          <a:bodyPr wrap="square">
            <a:spAutoFit/>
          </a:bodyPr>
          <a:lstStyle/>
          <a:p>
            <a:pPr algn="l">
              <a:defRPr sz="2000" b="1">
                <a:solidFill>
                  <a:srgbClr val="0096C7"/>
                </a:solidFill>
              </a:defRPr>
            </a:pPr>
            <a:r>
              <a:t>Ringkasan Hasil Project</a:t>
            </a:r>
          </a:p>
        </p:txBody>
      </p:sp>
      <p:sp>
        <p:nvSpPr>
          <p:cNvPr id="6" name="TextBox 5"/>
          <p:cNvSpPr txBox="1"/>
          <p:nvPr/>
        </p:nvSpPr>
        <p:spPr>
          <a:xfrm>
            <a:off x="1005840" y="2103120"/>
            <a:ext cx="10058400" cy="914400"/>
          </a:xfrm>
          <a:prstGeom prst="rect">
            <a:avLst/>
          </a:prstGeom>
          <a:noFill/>
        </p:spPr>
        <p:txBody>
          <a:bodyPr wrap="square">
            <a:spAutoFit/>
          </a:bodyPr>
          <a:lstStyle/>
          <a:p>
            <a:pPr algn="l">
              <a:defRPr sz="1400" b="0">
                <a:solidFill>
                  <a:srgbClr val="FFFFFF"/>
                </a:solidFill>
              </a:defRPr>
            </a:pPr>
            <a:r>
              <a:t>Project ini berhasil membangun sistem Credit Risk Prediction menggunakan algoritma XGBoost. Dengan alat navigasi berbasis data ini, perusahaan dapat secara proaktif mendeteksi mayoritas pinjaman bermasalah dan mencegah kerugian finansial yang signifikan sebelum pencairan dana terjadi.</a:t>
            </a:r>
          </a:p>
        </p:txBody>
      </p:sp>
      <p:sp>
        <p:nvSpPr>
          <p:cNvPr id="7" name="Rounded Rectangle 6"/>
          <p:cNvSpPr/>
          <p:nvPr/>
        </p:nvSpPr>
        <p:spPr>
          <a:xfrm>
            <a:off x="731520" y="3657600"/>
            <a:ext cx="10698480" cy="2743200"/>
          </a:xfrm>
          <a:prstGeom prst="roundRect">
            <a:avLst/>
          </a:prstGeom>
          <a:solidFill>
            <a:srgbClr val="222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749039"/>
            <a:ext cx="9144000" cy="365760"/>
          </a:xfrm>
          <a:prstGeom prst="rect">
            <a:avLst/>
          </a:prstGeom>
          <a:noFill/>
        </p:spPr>
        <p:txBody>
          <a:bodyPr wrap="square">
            <a:spAutoFit/>
          </a:bodyPr>
          <a:lstStyle/>
          <a:p>
            <a:pPr algn="l">
              <a:defRPr sz="2000" b="1">
                <a:solidFill>
                  <a:srgbClr val="2ECC71"/>
                </a:solidFill>
              </a:defRPr>
            </a:pPr>
            <a:r>
              <a:t>Saran Tindak Lanjut (Next Steps)</a:t>
            </a:r>
          </a:p>
        </p:txBody>
      </p:sp>
      <p:sp>
        <p:nvSpPr>
          <p:cNvPr id="9" name="TextBox 8"/>
          <p:cNvSpPr txBox="1"/>
          <p:nvPr/>
        </p:nvSpPr>
        <p:spPr>
          <a:xfrm>
            <a:off x="1005840" y="4389120"/>
            <a:ext cx="2743200" cy="274320"/>
          </a:xfrm>
          <a:prstGeom prst="rect">
            <a:avLst/>
          </a:prstGeom>
          <a:noFill/>
        </p:spPr>
        <p:txBody>
          <a:bodyPr wrap="square">
            <a:spAutoFit/>
          </a:bodyPr>
          <a:lstStyle/>
          <a:p>
            <a:pPr algn="l">
              <a:defRPr sz="1400" b="1">
                <a:solidFill>
                  <a:srgbClr val="E67E22"/>
                </a:solidFill>
              </a:defRPr>
            </a:pPr>
            <a:r>
              <a:t>• A/B Testing</a:t>
            </a:r>
          </a:p>
        </p:txBody>
      </p:sp>
      <p:sp>
        <p:nvSpPr>
          <p:cNvPr id="10" name="TextBox 9"/>
          <p:cNvSpPr txBox="1"/>
          <p:nvPr/>
        </p:nvSpPr>
        <p:spPr>
          <a:xfrm>
            <a:off x="3200400" y="4389120"/>
            <a:ext cx="7772400" cy="274320"/>
          </a:xfrm>
          <a:prstGeom prst="rect">
            <a:avLst/>
          </a:prstGeom>
          <a:noFill/>
        </p:spPr>
        <p:txBody>
          <a:bodyPr wrap="square">
            <a:spAutoFit/>
          </a:bodyPr>
          <a:lstStyle/>
          <a:p>
            <a:pPr algn="l">
              <a:defRPr sz="1400" b="0">
                <a:solidFill>
                  <a:srgbClr val="FFFFFF"/>
                </a:solidFill>
              </a:defRPr>
            </a:pPr>
            <a:r>
              <a:t>Uji coba model secara live pada 10% dari total pengajuan pinjaman baru bulan depan.</a:t>
            </a:r>
          </a:p>
        </p:txBody>
      </p:sp>
      <p:sp>
        <p:nvSpPr>
          <p:cNvPr id="11" name="TextBox 10"/>
          <p:cNvSpPr txBox="1"/>
          <p:nvPr/>
        </p:nvSpPr>
        <p:spPr>
          <a:xfrm>
            <a:off x="1005840" y="5029200"/>
            <a:ext cx="2743200" cy="274320"/>
          </a:xfrm>
          <a:prstGeom prst="rect">
            <a:avLst/>
          </a:prstGeom>
          <a:noFill/>
        </p:spPr>
        <p:txBody>
          <a:bodyPr wrap="square">
            <a:spAutoFit/>
          </a:bodyPr>
          <a:lstStyle/>
          <a:p>
            <a:pPr algn="l">
              <a:defRPr sz="1400" b="1">
                <a:solidFill>
                  <a:srgbClr val="E67E22"/>
                </a:solidFill>
              </a:defRPr>
            </a:pPr>
            <a:r>
              <a:t>• Integrasi Sistem (API)</a:t>
            </a:r>
          </a:p>
        </p:txBody>
      </p:sp>
      <p:sp>
        <p:nvSpPr>
          <p:cNvPr id="12" name="TextBox 11"/>
          <p:cNvSpPr txBox="1"/>
          <p:nvPr/>
        </p:nvSpPr>
        <p:spPr>
          <a:xfrm>
            <a:off x="3200400" y="5029200"/>
            <a:ext cx="7772400" cy="274320"/>
          </a:xfrm>
          <a:prstGeom prst="rect">
            <a:avLst/>
          </a:prstGeom>
          <a:noFill/>
        </p:spPr>
        <p:txBody>
          <a:bodyPr wrap="square">
            <a:spAutoFit/>
          </a:bodyPr>
          <a:lstStyle/>
          <a:p>
            <a:pPr algn="l">
              <a:defRPr sz="1400" b="0">
                <a:solidFill>
                  <a:srgbClr val="FFFFFF"/>
                </a:solidFill>
              </a:defRPr>
            </a:pPr>
            <a:r>
              <a:t>Memasukkan model ini ke dalam Decision Engine perusahaan agar scoring berjalan otomatis.</a:t>
            </a:r>
          </a:p>
        </p:txBody>
      </p:sp>
      <p:sp>
        <p:nvSpPr>
          <p:cNvPr id="13" name="TextBox 12"/>
          <p:cNvSpPr txBox="1"/>
          <p:nvPr/>
        </p:nvSpPr>
        <p:spPr>
          <a:xfrm>
            <a:off x="1005840" y="5669279"/>
            <a:ext cx="2743200" cy="274320"/>
          </a:xfrm>
          <a:prstGeom prst="rect">
            <a:avLst/>
          </a:prstGeom>
          <a:noFill/>
        </p:spPr>
        <p:txBody>
          <a:bodyPr wrap="square">
            <a:spAutoFit/>
          </a:bodyPr>
          <a:lstStyle/>
          <a:p>
            <a:pPr algn="l">
              <a:defRPr sz="1400" b="1">
                <a:solidFill>
                  <a:srgbClr val="E67E22"/>
                </a:solidFill>
              </a:defRPr>
            </a:pPr>
            <a:r>
              <a:t>• Pengayaan Data Behavior</a:t>
            </a:r>
          </a:p>
        </p:txBody>
      </p:sp>
      <p:sp>
        <p:nvSpPr>
          <p:cNvPr id="14" name="TextBox 13"/>
          <p:cNvSpPr txBox="1"/>
          <p:nvPr/>
        </p:nvSpPr>
        <p:spPr>
          <a:xfrm>
            <a:off x="3200400" y="5669279"/>
            <a:ext cx="7772400" cy="274320"/>
          </a:xfrm>
          <a:prstGeom prst="rect">
            <a:avLst/>
          </a:prstGeom>
          <a:noFill/>
        </p:spPr>
        <p:txBody>
          <a:bodyPr wrap="square">
            <a:spAutoFit/>
          </a:bodyPr>
          <a:lstStyle/>
          <a:p>
            <a:pPr algn="l">
              <a:defRPr sz="1400" b="0">
                <a:solidFill>
                  <a:srgbClr val="FFFFFF"/>
                </a:solidFill>
              </a:defRPr>
            </a:pPr>
            <a:r>
              <a:t>Untuk versi selanjutnya, tambahkan data riwayat transaksi bank atau perilaku telat bayar untuk menajamkan prediksi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058400" cy="1097280"/>
          </a:xfrm>
          <a:prstGeom prst="rect">
            <a:avLst/>
          </a:prstGeom>
          <a:noFill/>
        </p:spPr>
        <p:txBody>
          <a:bodyPr wrap="square">
            <a:spAutoFit/>
          </a:bodyPr>
          <a:lstStyle/>
          <a:p>
            <a:pPr algn="ctr">
              <a:defRPr sz="5400" b="1">
                <a:solidFill>
                  <a:srgbClr val="FFFFFF"/>
                </a:solidFill>
              </a:defRPr>
            </a:pPr>
            <a:r>
              <a:t>Terima Kasih</a:t>
            </a:r>
          </a:p>
        </p:txBody>
      </p:sp>
      <p:sp>
        <p:nvSpPr>
          <p:cNvPr id="4" name="Rounded Rectangle 3"/>
          <p:cNvSpPr/>
          <p:nvPr/>
        </p:nvSpPr>
        <p:spPr>
          <a:xfrm>
            <a:off x="5029200" y="3200400"/>
            <a:ext cx="2103120" cy="36576"/>
          </a:xfrm>
          <a:prstGeom prst="roundRect">
            <a:avLst/>
          </a:prstGeom>
          <a:solidFill>
            <a:srgbClr val="009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657600"/>
            <a:ext cx="10058400" cy="731520"/>
          </a:xfrm>
          <a:prstGeom prst="rect">
            <a:avLst/>
          </a:prstGeom>
          <a:noFill/>
        </p:spPr>
        <p:txBody>
          <a:bodyPr wrap="square">
            <a:spAutoFit/>
          </a:bodyPr>
          <a:lstStyle/>
          <a:p>
            <a:pPr algn="ctr">
              <a:defRPr sz="2200" b="1">
                <a:solidFill>
                  <a:srgbClr val="0096C7"/>
                </a:solidFill>
              </a:defRPr>
            </a:pPr>
            <a:r>
              <a:t>Muhammad Syafii Assubki</a:t>
            </a:r>
          </a:p>
        </p:txBody>
      </p:sp>
      <p:sp>
        <p:nvSpPr>
          <p:cNvPr id="6" name="TextBox 5"/>
          <p:cNvSpPr txBox="1"/>
          <p:nvPr/>
        </p:nvSpPr>
        <p:spPr>
          <a:xfrm>
            <a:off x="914400" y="4297680"/>
            <a:ext cx="10058400" cy="548640"/>
          </a:xfrm>
          <a:prstGeom prst="rect">
            <a:avLst/>
          </a:prstGeom>
          <a:noFill/>
        </p:spPr>
        <p:txBody>
          <a:bodyPr wrap="square">
            <a:spAutoFit/>
          </a:bodyPr>
          <a:lstStyle/>
          <a:p>
            <a:pPr algn="ctr">
              <a:defRPr sz="1600" b="0">
                <a:solidFill>
                  <a:srgbClr val="999999"/>
                </a:solidFill>
              </a:defRPr>
            </a:pPr>
            <a:r>
              <a:t>Data Scientist Intern | VIX IDX Partners</a:t>
            </a:r>
          </a:p>
        </p:txBody>
      </p:sp>
      <p:sp>
        <p:nvSpPr>
          <p:cNvPr id="7" name="TextBox 6"/>
          <p:cNvSpPr txBox="1"/>
          <p:nvPr/>
        </p:nvSpPr>
        <p:spPr>
          <a:xfrm>
            <a:off x="914400" y="5029200"/>
            <a:ext cx="10058400" cy="548640"/>
          </a:xfrm>
          <a:prstGeom prst="rect">
            <a:avLst/>
          </a:prstGeom>
          <a:noFill/>
        </p:spPr>
        <p:txBody>
          <a:bodyPr wrap="square">
            <a:spAutoFit/>
          </a:bodyPr>
          <a:lstStyle/>
          <a:p>
            <a:pPr algn="ctr">
              <a:defRPr sz="1800" b="0">
                <a:solidFill>
                  <a:srgbClr val="FFFFFF"/>
                </a:solidFill>
              </a:defRPr>
            </a:pPr>
            <a:r>
              <a:t>Q&amp;A Session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